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63" r:id="rId3"/>
  </p:sldMasterIdLst>
  <p:notesMasterIdLst>
    <p:notesMasterId r:id="rId5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93" r:id="rId22"/>
    <p:sldId id="295" r:id="rId23"/>
    <p:sldId id="275" r:id="rId24"/>
    <p:sldId id="287" r:id="rId25"/>
    <p:sldId id="288" r:id="rId26"/>
    <p:sldId id="289" r:id="rId27"/>
    <p:sldId id="296" r:id="rId28"/>
    <p:sldId id="294" r:id="rId29"/>
    <p:sldId id="297" r:id="rId30"/>
    <p:sldId id="298" r:id="rId31"/>
    <p:sldId id="299" r:id="rId32"/>
    <p:sldId id="276" r:id="rId33"/>
    <p:sldId id="290" r:id="rId34"/>
    <p:sldId id="291" r:id="rId35"/>
    <p:sldId id="292" r:id="rId36"/>
    <p:sldId id="277" r:id="rId37"/>
    <p:sldId id="301" r:id="rId38"/>
    <p:sldId id="278" r:id="rId39"/>
    <p:sldId id="300" r:id="rId40"/>
    <p:sldId id="303" r:id="rId41"/>
    <p:sldId id="304" r:id="rId42"/>
    <p:sldId id="302" r:id="rId43"/>
    <p:sldId id="305" r:id="rId44"/>
    <p:sldId id="306" r:id="rId45"/>
    <p:sldId id="307" r:id="rId46"/>
    <p:sldId id="308" r:id="rId47"/>
    <p:sldId id="309" r:id="rId48"/>
    <p:sldId id="279" r:id="rId49"/>
    <p:sldId id="280" r:id="rId50"/>
    <p:sldId id="281" r:id="rId51"/>
    <p:sldId id="282" r:id="rId52"/>
    <p:sldId id="283" r:id="rId53"/>
    <p:sldId id="284" r:id="rId54"/>
    <p:sldId id="285" r:id="rId55"/>
    <p:sldId id="286" r:id="rId5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6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Kliknij, aby przesunąć slajd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l-PL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Kliknij, aby edytować format notatek</a:t>
            </a:r>
          </a:p>
        </p:txBody>
      </p:sp>
      <p:sp>
        <p:nvSpPr>
          <p:cNvPr id="2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&lt;główka&gt;</a:t>
            </a:r>
          </a:p>
        </p:txBody>
      </p:sp>
      <p:sp>
        <p:nvSpPr>
          <p:cNvPr id="255" name="PlaceHolder 4"/>
          <p:cNvSpPr>
            <a:spLocks noGrp="1"/>
          </p:cNvSpPr>
          <p:nvPr>
            <p:ph type="dt" idx="5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&lt;data/godzina&gt;</a:t>
            </a:r>
          </a:p>
        </p:txBody>
      </p:sp>
      <p:sp>
        <p:nvSpPr>
          <p:cNvPr id="256" name="PlaceHolder 5"/>
          <p:cNvSpPr>
            <a:spLocks noGrp="1"/>
          </p:cNvSpPr>
          <p:nvPr>
            <p:ph type="ftr" idx="5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257" name="PlaceHolder 6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C2D9C13-E113-4FCB-A110-C47FBACFC3FC}" type="slidenum"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0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3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5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1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1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Text Box 1"/>
          <p:cNvSpPr/>
          <p:nvPr/>
        </p:nvSpPr>
        <p:spPr>
          <a:xfrm>
            <a:off x="1440" y="0"/>
            <a:ext cx="1080" cy="1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3560" rIns="90000" bIns="-4356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Box 1"/>
          <p:cNvSpPr/>
          <p:nvPr/>
        </p:nvSpPr>
        <p:spPr>
          <a:xfrm>
            <a:off x="1440" y="0"/>
            <a:ext cx="1080" cy="1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-43560" rIns="90000" bIns="-4356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5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Text Box 1"/>
          <p:cNvSpPr/>
          <p:nvPr/>
        </p:nvSpPr>
        <p:spPr>
          <a:xfrm>
            <a:off x="2143080" y="695160"/>
            <a:ext cx="2571480" cy="3428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329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444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ctr">
            <a:noAutofit/>
          </a:bodyPr>
          <a:lstStyle/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33520" y="1371600"/>
            <a:ext cx="78512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18360" bIns="0" numCol="1" spcCol="0" anchor="b">
            <a:norm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pl-PL" sz="5600" b="1" u="none" strike="noStrike">
                <a:solidFill>
                  <a:schemeClr val="accent3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GB" sz="5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5735942-ECB7-4F7F-ACB7-019A2BF77072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agłówek sekcji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5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5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5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5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30280" y="1316880"/>
            <a:ext cx="7772040" cy="136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600" b="1" u="none" strike="noStrike">
                <a:solidFill>
                  <a:schemeClr val="accent4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GB" sz="5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30280" y="2704680"/>
            <a:ext cx="7772040" cy="150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439"/>
              </a:spcBef>
              <a:buNone/>
              <a:tabLst>
                <a:tab pos="0" algn="l"/>
              </a:tabLst>
            </a:pPr>
            <a:r>
              <a:rPr lang="pl-PL" sz="2200" b="0" u="none" strike="noStrike">
                <a:solidFill>
                  <a:schemeClr val="lt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16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sldNum" idx="1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ED263AB-65C5-4F66-96C1-BC3442562236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9240" cy="4389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5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BE56230-5D2F-4F16-BA33-ADF13758D8B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914400"/>
            <a:ext cx="2057040" cy="5211360"/>
          </a:xfrm>
          <a:prstGeom prst="rect">
            <a:avLst/>
          </a:prstGeom>
          <a:noFill/>
          <a:ln w="0">
            <a:noFill/>
          </a:ln>
        </p:spPr>
        <p:txBody>
          <a:bodyPr vert="eaVert"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6019560" cy="52113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8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30" name="PlaceHolder 5"/>
          <p:cNvSpPr>
            <a:spLocks noGrp="1"/>
          </p:cNvSpPr>
          <p:nvPr>
            <p:ph type="sldNum" idx="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1A23EEA0-88F6-43DC-A3FF-4FFBCEA6D91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3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3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7784EC0C-2D0B-49DB-87EE-E73DC94AA79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2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33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34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1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7FE21DA3-937B-41BE-AD16-1ACEB5D57B7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4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4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4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9240" cy="438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13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52" name="PlaceHolder 5"/>
          <p:cNvSpPr>
            <a:spLocks noGrp="1"/>
          </p:cNvSpPr>
          <p:nvPr>
            <p:ph type="sldNum" idx="1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7A08A71-4EEB-47DF-A98B-C09112C0F1E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64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65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66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7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920240"/>
            <a:ext cx="4038120" cy="443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48320" y="1920240"/>
            <a:ext cx="4038120" cy="443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ftr" idx="19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73" name="PlaceHolder 6"/>
          <p:cNvSpPr>
            <a:spLocks noGrp="1"/>
          </p:cNvSpPr>
          <p:nvPr>
            <p:ph type="sldNum" idx="2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6BA90578-8217-4907-955E-F141CBA2E68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równanie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7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7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855080"/>
            <a:ext cx="4039920" cy="659160"/>
          </a:xfrm>
          <a:prstGeom prst="rect">
            <a:avLst/>
          </a:prstGeom>
          <a:noFill/>
          <a:ln w="0">
            <a:noFill/>
          </a:ln>
        </p:spPr>
        <p:txBody>
          <a:bodyPr lIns="45720" tIns="0" rIns="45720" bIns="0" numCol="1" spcCol="0" anchor="ctr">
            <a:noAutofit/>
          </a:bodyPr>
          <a:lstStyle/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45080" y="1859760"/>
            <a:ext cx="4041360" cy="654480"/>
          </a:xfrm>
          <a:prstGeom prst="rect">
            <a:avLst/>
          </a:prstGeom>
          <a:noFill/>
          <a:ln w="0">
            <a:noFill/>
          </a:ln>
        </p:spPr>
        <p:txBody>
          <a:bodyPr lIns="45720" tIns="0" rIns="45720" bIns="0" numCol="1" spcCol="0" anchor="ctr">
            <a:noAutofit/>
          </a:bodyPr>
          <a:lstStyle/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457200" y="2514600"/>
            <a:ext cx="4039920" cy="384552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645080" y="2514600"/>
            <a:ext cx="4041360" cy="384552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 type="ftr" idx="22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86" name="PlaceHolder 8"/>
          <p:cNvSpPr>
            <a:spLocks noGrp="1"/>
          </p:cNvSpPr>
          <p:nvPr>
            <p:ph type="sldNum" idx="2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EBFE25F4-999C-42A8-8E26-0D74C4C043D3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8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8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90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1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305560" cy="11426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ftr" idx="25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sldNum" idx="2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9DAFC71-F23F-4449-8725-CA403A7A08B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9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9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9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01" name="PlaceHolder 1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ftr" idx="28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03" name="PlaceHolder 3"/>
          <p:cNvSpPr>
            <a:spLocks noGrp="1"/>
          </p:cNvSpPr>
          <p:nvPr>
            <p:ph type="sldNum" idx="2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69E57E9-A04B-444C-ACE3-40F80C43C2D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Kliknij, aby edytować format tekstu tytułu</a:t>
            </a: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awartość z podpisem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0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0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0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85800" y="514440"/>
            <a:ext cx="2742840" cy="116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6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26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1676520"/>
            <a:ext cx="2742840" cy="4571640"/>
          </a:xfrm>
          <a:prstGeom prst="rect">
            <a:avLst/>
          </a:prstGeom>
          <a:noFill/>
          <a:ln w="0">
            <a:noFill/>
          </a:ln>
        </p:spPr>
        <p:txBody>
          <a:bodyPr lIns="18360" tIns="45720" rIns="1836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pl-PL" sz="1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body"/>
          </p:nvPr>
        </p:nvSpPr>
        <p:spPr>
          <a:xfrm>
            <a:off x="3575160" y="1676520"/>
            <a:ext cx="5111280" cy="4571640"/>
          </a:xfrm>
          <a:prstGeom prst="rect">
            <a:avLst/>
          </a:prstGeom>
          <a:noFill/>
          <a:ln w="0">
            <a:noFill/>
          </a:ln>
        </p:spPr>
        <p:txBody>
          <a:bodyPr lIns="91440" tIns="0" rIns="91440" bIns="45720" numCol="1" spcCol="0" anchor="t">
            <a:noAutofit/>
          </a:bodyPr>
          <a:lstStyle/>
          <a:p>
            <a:pPr marL="272880" indent="-272880">
              <a:lnSpc>
                <a:spcPct val="100000"/>
              </a:lnSpc>
              <a:spcBef>
                <a:spcPts val="561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>
              <a:lnSpc>
                <a:spcPct val="100000"/>
              </a:lnSpc>
              <a:spcBef>
                <a:spcPts val="51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GB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>
              <a:lnSpc>
                <a:spcPct val="100000"/>
              </a:lnSpc>
              <a:spcBef>
                <a:spcPts val="479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ftr" idx="31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16" name="PlaceHolder 6"/>
          <p:cNvSpPr>
            <a:spLocks noGrp="1"/>
          </p:cNvSpPr>
          <p:nvPr>
            <p:ph type="sldNum" idx="3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57F5EE0-4C50-44EC-AD89-1FF1596728D0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raz z podpisem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Dowolny kształt 6" hidden="1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8" name="Dowolny kształt 7" hidden="1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19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20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1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22" name="Prostokąt ze ściętym i zaokrąglonym rogiem 13"/>
          <p:cNvSpPr/>
          <p:nvPr/>
        </p:nvSpPr>
        <p:spPr>
          <a:xfrm rot="420000" flipV="1">
            <a:off x="3165120" y="1108080"/>
            <a:ext cx="5257440" cy="411444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>
            <a:solidFill>
              <a:srgbClr val="C0C0C0"/>
            </a:solidFill>
            <a:round/>
          </a:ln>
          <a:effectLst>
            <a:outerShdw blurRad="63360" dist="38251" dir="7502171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123" name="Trójkąt prostokątny 5"/>
          <p:cNvSpPr/>
          <p:nvPr/>
        </p:nvSpPr>
        <p:spPr>
          <a:xfrm rot="420000" flipV="1">
            <a:off x="8003880" y="5358240"/>
            <a:ext cx="155160" cy="155160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</a:ln>
          <a:effectLst>
            <a:outerShdw blurRad="19800" dist="6193" dir="12932261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6840" rIns="90000" bIns="6840" anchor="ctr">
            <a:noAutofit/>
          </a:bodyPr>
          <a:lstStyle/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124" name="Dowolny kształt 6"/>
          <p:cNvSpPr/>
          <p:nvPr/>
        </p:nvSpPr>
        <p:spPr>
          <a:xfrm flipV="1">
            <a:off x="-9000" y="581616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162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5" name="Dowolny kształt 7"/>
          <p:cNvSpPr/>
          <p:nvPr/>
        </p:nvSpPr>
        <p:spPr>
          <a:xfrm flipV="1">
            <a:off x="4381560" y="62197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162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1176840"/>
            <a:ext cx="2212560" cy="1582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2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09480" y="2828880"/>
            <a:ext cx="2209320" cy="2179080"/>
          </a:xfrm>
          <a:prstGeom prst="rect">
            <a:avLst/>
          </a:prstGeom>
          <a:noFill/>
          <a:ln w="0">
            <a:noFill/>
          </a:ln>
        </p:spPr>
        <p:txBody>
          <a:bodyPr lIns="64080" tIns="45720" rIns="45720" bIns="45720" numCol="1" spcCol="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249"/>
              </a:spcBef>
              <a:buNone/>
              <a:tabLst>
                <a:tab pos="0" algn="l"/>
              </a:tabLst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GB" sz="13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body"/>
          </p:nvPr>
        </p:nvSpPr>
        <p:spPr>
          <a:xfrm rot="420000">
            <a:off x="3485520" y="1199160"/>
            <a:ext cx="4617360" cy="3931560"/>
          </a:xfrm>
          <a:prstGeom prst="rect">
            <a:avLst/>
          </a:prstGeom>
          <a:solidFill>
            <a:schemeClr val="lt2"/>
          </a:solidFill>
          <a:ln w="2880" cap="rnd">
            <a:solidFill>
              <a:srgbClr val="C0C0C0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indent="0" defTabSz="44928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l-PL" sz="32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 ikonę, aby dodać obraz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ftr" idx="34"/>
          </p:nvPr>
        </p:nvSpPr>
        <p:spPr>
          <a:xfrm>
            <a:off x="2666880" y="6356520"/>
            <a:ext cx="33523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ct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</a:p>
        </p:txBody>
      </p:sp>
      <p:sp>
        <p:nvSpPr>
          <p:cNvPr id="131" name="PlaceHolder 6"/>
          <p:cNvSpPr>
            <a:spLocks noGrp="1"/>
          </p:cNvSpPr>
          <p:nvPr>
            <p:ph type="sldNum" idx="35"/>
          </p:nvPr>
        </p:nvSpPr>
        <p:spPr>
          <a:xfrm>
            <a:off x="8077320" y="6356520"/>
            <a:ext cx="60912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8FAE203-9D65-4A2A-AFA0-22E81FB3B70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3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3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3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F1ADBE5-1F86-4E45-93E0-C76DE76BDBE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4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3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3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278A497-B96E-4026-B4BC-E587BDD6FB2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4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38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3A7E9ACA-C127-4894-88CF-4CE7EF52F92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5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4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ldNum" idx="3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06FB429A-2DC0-4129-A531-97C769AB998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5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5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4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6B69965-4661-4C56-B301-B5A05FF99A8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6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5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4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A6A304AF-A5D9-4D75-A9EE-68EA0858D78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7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4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E8333B0-7001-4AB8-9592-CCCDC0F35AB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7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4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846B3DFD-7F1D-49E4-9040-F3951392FCE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8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8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4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985CBD58-B937-4BA9-A929-0A3E39E83ED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8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8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45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7A9B138-83D4-45D3-A7E0-0A96CB33272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9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9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ldNum" idx="46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0C2AD060-149C-4CA3-AE0D-F17383EE665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3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0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195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6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ldNum" idx="47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C00D25B9-1290-4054-AF13-E154923E5E9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0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0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sldNum" idx="48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D0498274-CF3B-4005-9018-A22B45E57C5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7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5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07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8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49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9312D17C-BFFB-4A82-8490-2896834027A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1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50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6BAC143-0DFA-4513-84C6-72ABC5995CD9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7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24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19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0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sldNum" idx="51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584988E0-D94E-4CB4-AA56-1AC86B79BA6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9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0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3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sldNum" idx="52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DEE45F26-128E-4445-BF43-577978415DA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9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9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6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31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2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53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FD89AB9E-34D7-45E6-8446-CAF27CEB365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0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42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4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54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24F86862-C8B5-4B59-98FA-D66DF09108B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0_Układ niestandardowy"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Dowolny kształt 6"/>
          <p:cNvSpPr/>
          <p:nvPr/>
        </p:nvSpPr>
        <p:spPr>
          <a:xfrm>
            <a:off x="-9360" y="-7920"/>
            <a:ext cx="9162720" cy="1041120"/>
          </a:xfrm>
          <a:custGeom>
            <a:avLst/>
            <a:gdLst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l" t="t" r="r" b="b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1" name="Dowolny kształt 7"/>
          <p:cNvSpPr/>
          <p:nvPr/>
        </p:nvSpPr>
        <p:spPr>
          <a:xfrm>
            <a:off x="4381560" y="-7920"/>
            <a:ext cx="4762080" cy="637920"/>
          </a:xfrm>
          <a:custGeom>
            <a:avLst/>
            <a:gdLst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l" t="t" r="r" b="b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48" name="Grupa 1"/>
          <p:cNvGrpSpPr/>
          <p:nvPr/>
        </p:nvGrpSpPr>
        <p:grpSpPr>
          <a:xfrm>
            <a:off x="-29160" y="-15480"/>
            <a:ext cx="9197640" cy="1084680"/>
            <a:chOff x="-29160" y="-15480"/>
            <a:chExt cx="9197640" cy="1084680"/>
          </a:xfrm>
        </p:grpSpPr>
        <p:sp>
          <p:nvSpPr>
            <p:cNvPr id="243" name="Dowolny kształt 11"/>
            <p:cNvSpPr/>
            <p:nvPr/>
          </p:nvSpPr>
          <p:spPr>
            <a:xfrm rot="21435600">
              <a:off x="-18720" y="203040"/>
              <a:ext cx="9162720" cy="647280"/>
            </a:xfrm>
            <a:custGeom>
              <a:avLst/>
              <a:gdLst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44" name="Dowolny kształt 12"/>
            <p:cNvSpPr/>
            <p:nvPr/>
          </p:nvSpPr>
          <p:spPr>
            <a:xfrm rot="21435600">
              <a:off x="-14040" y="276120"/>
              <a:ext cx="9175320" cy="528840"/>
            </a:xfrm>
            <a:custGeom>
              <a:avLst/>
              <a:gdLst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l" t="t" r="r" b="b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ldNum" idx="55"/>
          </p:nvPr>
        </p:nvSpPr>
        <p:spPr>
          <a:xfrm>
            <a:off x="7924680" y="6356520"/>
            <a:ext cx="761760" cy="36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</a:pPr>
            <a:fld id="{B3306CC6-7752-4758-A009-57F3E1D6E79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‹#›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20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3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Box 1"/>
          <p:cNvSpPr/>
          <p:nvPr/>
        </p:nvSpPr>
        <p:spPr>
          <a:xfrm>
            <a:off x="642960" y="928800"/>
            <a:ext cx="777204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Końcowy p</a:t>
            </a: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rzegląd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Box 2"/>
          <p:cNvSpPr/>
          <p:nvPr/>
        </p:nvSpPr>
        <p:spPr>
          <a:xfrm>
            <a:off x="571680" y="2428920"/>
            <a:ext cx="8143560" cy="397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Nazwa projektu: NOTES  AI</a:t>
            </a: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.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	2. Adam Dąbkowski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	3. Adrian Cieśla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 Box 1"/>
          <p:cNvSpPr/>
          <p:nvPr/>
        </p:nvSpPr>
        <p:spPr>
          <a:xfrm>
            <a:off x="685800" y="609480"/>
            <a:ext cx="777204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Krótka charakterystyka organizacji zamawiającego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Box 2"/>
          <p:cNvSpPr/>
          <p:nvPr/>
        </p:nvSpPr>
        <p:spPr>
          <a:xfrm>
            <a:off x="642960" y="1571760"/>
            <a:ext cx="7772040" cy="429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Rozproszona grupa użytkowników zrzeszona serwerem </a:t>
            </a:r>
            <a:r>
              <a:rPr lang="pl-PL" sz="1600" dirty="0" err="1"/>
              <a:t>discord</a:t>
            </a:r>
            <a:endParaRPr lang="pl-PL" sz="1600" dirty="0"/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Większość członków tylko doraźnie </a:t>
            </a:r>
            <a:r>
              <a:rPr lang="pl-PL" sz="1600" dirty="0" err="1"/>
              <a:t>zainteresowna</a:t>
            </a:r>
            <a:r>
              <a:rPr lang="pl-PL" sz="1600" dirty="0"/>
              <a:t> rozwojem systemów dla grupy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Głównymi interesariuszami są administratorzy grupy </a:t>
            </a:r>
            <a:r>
              <a:rPr lang="pl-PL" sz="1600" dirty="0" err="1"/>
              <a:t>discrod</a:t>
            </a:r>
            <a:r>
              <a:rPr lang="pl-PL" sz="1600" dirty="0"/>
              <a:t> dbający o jakość doświadczenia członków serwera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Brak sztywnych wymagań co do terminu realizacji</a:t>
            </a: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pos="339840" algn="l"/>
                <a:tab pos="787320" algn="l"/>
                <a:tab pos="1236600" algn="l"/>
                <a:tab pos="1685880" algn="l"/>
                <a:tab pos="2135160" algn="l"/>
                <a:tab pos="2584440" algn="l"/>
                <a:tab pos="3033720" algn="l"/>
                <a:tab pos="3483000" algn="l"/>
                <a:tab pos="3932280" algn="l"/>
                <a:tab pos="4381560" algn="l"/>
                <a:tab pos="4830840" algn="l"/>
                <a:tab pos="5280120" algn="l"/>
                <a:tab pos="5729400" algn="l"/>
                <a:tab pos="6178680" algn="l"/>
                <a:tab pos="6627960" algn="l"/>
                <a:tab pos="7077240" algn="l"/>
                <a:tab pos="7526160" algn="l"/>
                <a:tab pos="7975440" algn="l"/>
                <a:tab pos="8424720" algn="l"/>
                <a:tab pos="8874000" algn="l"/>
                <a:tab pos="9323280" algn="l"/>
              </a:tabLst>
            </a:pPr>
            <a:r>
              <a:rPr lang="pl-PL" sz="1600" dirty="0"/>
              <a:t>Zainteresowani chcą usprawnić proces fizycznego notowania i połączyć je z prostą digitalizacją notatek</a:t>
            </a:r>
            <a:br>
              <a:rPr sz="1600" dirty="0"/>
            </a:br>
            <a:r>
              <a:rPr lang="pl-PL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</a:p>
          <a:p>
            <a:pPr marL="339840" indent="-339840" defTabSz="449280">
              <a:lnSpc>
                <a:spcPct val="100000"/>
              </a:lnSpc>
              <a:spcBef>
                <a:spcPts val="275"/>
              </a:spcBef>
              <a:tabLst>
                <a:tab pos="0" algn="l"/>
              </a:tabLst>
            </a:pPr>
            <a:endParaRPr lang="pl-PL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Box 1"/>
          <p:cNvSpPr/>
          <p:nvPr/>
        </p:nvSpPr>
        <p:spPr>
          <a:xfrm>
            <a:off x="685800" y="609480"/>
            <a:ext cx="7772040" cy="114264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Cel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Box 2"/>
          <p:cNvSpPr/>
          <p:nvPr/>
        </p:nvSpPr>
        <p:spPr>
          <a:xfrm>
            <a:off x="685800" y="1981080"/>
            <a:ext cx="80290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449280">
              <a:lnSpc>
                <a:spcPct val="100000"/>
              </a:lnSpc>
              <a:spcBef>
                <a:spcPts val="45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Celem projektu jest zbudowanie </a:t>
            </a:r>
            <a:r>
              <a:rPr lang="pl-PL" dirty="0">
                <a:solidFill>
                  <a:srgbClr val="000000"/>
                </a:solidFill>
                <a:latin typeface="Arial"/>
              </a:rPr>
              <a:t>systemu, który umożliwi użytkownikom serwera </a:t>
            </a:r>
            <a:r>
              <a:rPr lang="pl-PL" dirty="0" err="1">
                <a:solidFill>
                  <a:srgbClr val="000000"/>
                </a:solidFill>
                <a:latin typeface="Arial"/>
              </a:rPr>
              <a:t>Discrod</a:t>
            </a:r>
            <a:r>
              <a:rPr lang="pl-PL" dirty="0">
                <a:solidFill>
                  <a:srgbClr val="000000"/>
                </a:solidFill>
                <a:latin typeface="Arial"/>
              </a:rPr>
              <a:t> łatwą digitalizację notatek pisanych ręcznie. Proces ten musi być jak najmniej uciążliwy.</a:t>
            </a:r>
            <a:endParaRPr lang="pl-PL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Box 1"/>
          <p:cNvSpPr/>
          <p:nvPr/>
        </p:nvSpPr>
        <p:spPr>
          <a:xfrm>
            <a:off x="785880" y="428760"/>
            <a:ext cx="7772040" cy="85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Żądania Zamawiającego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Box 2"/>
          <p:cNvSpPr/>
          <p:nvPr/>
        </p:nvSpPr>
        <p:spPr>
          <a:xfrm>
            <a:off x="714240" y="1428840"/>
            <a:ext cx="7772040" cy="4500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r>
              <a:rPr lang="pl-PL" dirty="0"/>
              <a:t>Pierwszym etapem prac ma być opracowanie projektu systemu, który zapewni:  </a:t>
            </a:r>
          </a:p>
          <a:p>
            <a:endParaRPr lang="en-AU" dirty="0"/>
          </a:p>
          <a:p>
            <a:r>
              <a:rPr lang="pl-PL" dirty="0"/>
              <a:t>Stworzenie sprawnego mostu między notowaniem analogowym a cyfrowym archiwum, pozwalającego na zachowanie tradycyjnych metod pracy przy jednoczesnym wykorzystaniu zalet edycji komputerowej i archiwizacji na komputerze.  </a:t>
            </a:r>
          </a:p>
          <a:p>
            <a:endParaRPr lang="en-AU" dirty="0"/>
          </a:p>
          <a:p>
            <a:r>
              <a:rPr lang="pl-PL" dirty="0"/>
              <a:t>Automatyzację procesu kategoryzacji i przetwarzania treści, aby użytkownik nie musiał tracić czasu na ręczne nazywanie plików, ich konwersję i przenoszenie do odpowiednich katalogów.  </a:t>
            </a:r>
          </a:p>
          <a:p>
            <a:endParaRPr lang="en-AU" dirty="0"/>
          </a:p>
          <a:p>
            <a:r>
              <a:rPr lang="pl-PL" dirty="0"/>
              <a:t>Integrację z systemem umożliwiającym przeszukiwanie tworzonej bazy wiedzy, która umożliwi szybki dostęp do myśli i koncepcji zapisanych wcześniej w formie fizycznej. </a:t>
            </a:r>
          </a:p>
          <a:p>
            <a:endParaRPr lang="en-AU" dirty="0"/>
          </a:p>
          <a:p>
            <a:r>
              <a:rPr lang="pl-PL" dirty="0"/>
              <a:t>Możliwość doprecyzowania szczegółów przetwarzania notatki z poziomu ręcznie pisanej notatki.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 Box 1"/>
          <p:cNvSpPr/>
          <p:nvPr/>
        </p:nvSpPr>
        <p:spPr>
          <a:xfrm>
            <a:off x="642960" y="642960"/>
            <a:ext cx="7772040" cy="8568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(FEAT)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7" name="Tabela 3"/>
          <p:cNvGraphicFramePr/>
          <p:nvPr>
            <p:extLst>
              <p:ext uri="{D42A27DB-BD31-4B8C-83A1-F6EECF244321}">
                <p14:modId xmlns:p14="http://schemas.microsoft.com/office/powerpoint/2010/main" val="817793447"/>
              </p:ext>
            </p:extLst>
          </p:nvPr>
        </p:nvGraphicFramePr>
        <p:xfrm>
          <a:off x="357120" y="2114640"/>
          <a:ext cx="8429400" cy="1076000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80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FEAT1: 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Reakcja na zdjęcie poniżej 1 sekundy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Użytkownik otrzymuje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zdigitalizowaną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notatkę w rozsądnym czasie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Box 1"/>
          <p:cNvSpPr/>
          <p:nvPr/>
        </p:nvSpPr>
        <p:spPr>
          <a:xfrm>
            <a:off x="642960" y="642960"/>
            <a:ext cx="7772040" cy="85680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funkcjonalne </a:t>
            </a: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(UC)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ela 3"/>
          <p:cNvGraphicFramePr/>
          <p:nvPr>
            <p:extLst>
              <p:ext uri="{D42A27DB-BD31-4B8C-83A1-F6EECF244321}">
                <p14:modId xmlns:p14="http://schemas.microsoft.com/office/powerpoint/2010/main" val="3732574481"/>
              </p:ext>
            </p:extLst>
          </p:nvPr>
        </p:nvGraphicFramePr>
        <p:xfrm>
          <a:off x="357120" y="2114641"/>
          <a:ext cx="8429400" cy="1524348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Dodanie użytkownika do systemu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 Skonfigurowanie lokalizacji do zapisu notatki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948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Użytkownik łączy konto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discord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z kontem w systemie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ela 3">
            <a:extLst>
              <a:ext uri="{FF2B5EF4-FFF2-40B4-BE49-F238E27FC236}">
                <a16:creationId xmlns:a16="http://schemas.microsoft.com/office/drawing/2014/main" id="{D4449479-3F22-ED98-ABEF-73A4367A64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879608"/>
              </p:ext>
            </p:extLst>
          </p:nvPr>
        </p:nvGraphicFramePr>
        <p:xfrm>
          <a:off x="357120" y="3947251"/>
          <a:ext cx="8429400" cy="1524348"/>
        </p:xfrm>
        <a:graphic>
          <a:graphicData uri="http://schemas.openxmlformats.org/drawingml/2006/table">
            <a:tbl>
              <a:tblPr/>
              <a:tblGrid>
                <a:gridCol w="1133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Przekształcenie notatki analogowej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656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.1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Z notatki muszą być wyciąganie </a:t>
                      </a:r>
                      <a:r>
                        <a:rPr lang="pl-PL" sz="1200" b="1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tagi</a:t>
                      </a: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techniczne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948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pl-PL" sz="12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W notatce musi być rozpoznana struktura tekstu.</a:t>
                      </a:r>
                      <a:endParaRPr lang="pl-PL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1080" marR="9108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Box 1"/>
          <p:cNvSpPr/>
          <p:nvPr/>
        </p:nvSpPr>
        <p:spPr>
          <a:xfrm>
            <a:off x="571680" y="428760"/>
            <a:ext cx="8246880" cy="12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Mapowanie żądań na wymagania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-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macierz</a:t>
            </a:r>
            <a:endParaRPr lang="pl-PL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70FD9A-1CAD-DCF7-92BC-94EC4A758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697" y="1730241"/>
            <a:ext cx="3352215" cy="46989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964ED9-948A-7B50-0BF1-F200DDDDE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556" y="1707840"/>
            <a:ext cx="3286747" cy="4721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Box 1"/>
          <p:cNvSpPr/>
          <p:nvPr/>
        </p:nvSpPr>
        <p:spPr>
          <a:xfrm>
            <a:off x="685800" y="465120"/>
            <a:ext cx="777204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Times New Roman"/>
              </a:rPr>
              <a:t>Specyfikacja wymagań dodatkowych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Box 2"/>
          <p:cNvSpPr/>
          <p:nvPr/>
        </p:nvSpPr>
        <p:spPr>
          <a:xfrm>
            <a:off x="428760" y="2143080"/>
            <a:ext cx="8143560" cy="397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użyteczności i ergonomii: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Użytkownik otrzymuje </a:t>
            </a:r>
            <a:r>
              <a:rPr lang="pl-PL" sz="1400" b="1" dirty="0" err="1">
                <a:solidFill>
                  <a:srgbClr val="000000"/>
                </a:solidFill>
                <a:latin typeface="Times New Roman"/>
              </a:rPr>
              <a:t>zdigitalizowaną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notatkę w rozsądnym czasie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wydajnościowe: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 Użytkownik zawsze odczuwa szybką reakcję systemu, Reakcja na zdjęcie poniżej 1 sekundy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1400" b="1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Wymagania niezawodnościowe</a:t>
            </a:r>
            <a:r>
              <a:rPr lang="pl-PL" sz="1400" b="1" dirty="0">
                <a:solidFill>
                  <a:srgbClr val="000000"/>
                </a:solidFill>
                <a:latin typeface="Times New Roman"/>
              </a:rPr>
              <a:t>: Podanie przyczyny niemożności stworzenia notatki</a:t>
            </a:r>
            <a:endParaRPr lang="pl-PL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Szczegółowa specyfikacja wymagań na system:</a:t>
            </a: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Nazwa projektu: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br>
              <a:rPr sz="2800"/>
            </a:b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1143000" y="2286000"/>
            <a:ext cx="7772040" cy="100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Model </a:t>
            </a:r>
            <a:r>
              <a:rPr lang="pl-PL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przypadków użycia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976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pl-PL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Administrowanie systemem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8" name="Picture 277"/>
          <p:cNvPicPr/>
          <p:nvPr/>
        </p:nvPicPr>
        <p:blipFill>
          <a:blip r:embed="rId2"/>
          <a:stretch/>
        </p:blipFill>
        <p:spPr>
          <a:xfrm>
            <a:off x="1366560" y="1440000"/>
            <a:ext cx="5833440" cy="4875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800" cy="14317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5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Specyfikacja aktorów</a:t>
            </a:r>
            <a:endParaRPr lang="en-GB" sz="50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0BBDFB-345B-369E-78F6-B9A0DB643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710" y="2566904"/>
            <a:ext cx="4377810" cy="30401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42960" y="285840"/>
            <a:ext cx="7571880" cy="64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Diagram 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(głównych) przypadków użycia</a:t>
            </a:r>
            <a:endParaRPr lang="en-GB" sz="36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281" name="Picture 280"/>
          <p:cNvPicPr/>
          <p:nvPr/>
        </p:nvPicPr>
        <p:blipFill>
          <a:blip r:embed="rId3"/>
          <a:stretch/>
        </p:blipFill>
        <p:spPr>
          <a:xfrm>
            <a:off x="1260000" y="1800000"/>
            <a:ext cx="6629040" cy="4616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800" cy="537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 anchorCtr="1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główny dla przypadku użycia </a:t>
            </a:r>
            <a:br>
              <a:rPr sz="3200"/>
            </a:b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“Przetworzyć notatki odręczne do Markdown”</a:t>
            </a:r>
            <a:endParaRPr lang="en-GB" sz="32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pole tekstowe 4"/>
          <p:cNvSpPr/>
          <p:nvPr/>
        </p:nvSpPr>
        <p:spPr>
          <a:xfrm>
            <a:off x="428760" y="1456200"/>
            <a:ext cx="8429400" cy="232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spAutoFit/>
          </a:bodyPr>
          <a:lstStyle/>
          <a:p>
            <a:pPr marL="720000" defTabSz="44928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Użytkownik wysyła zdjęcie notatki odręcznej na dedykowany kanał Discord. 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720000" defTabSz="44928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NOTES AI odbiera załącznik i umieszcza zadanie w kolejce. 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przesyła obraz do modelu AI.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Model rozpoznaje tekst oraz strukturę notatki (nagłówki, listy, tabele, pogrubienia).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identyfikuje i parsuje bloki tagów technicznych ….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Model AI generuje semantyczny plik Markdown z zachowaniem logicznej struktury.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automatycznie nadaje plikowi krótką nazwę na podstawie treści.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Gotowy plik .md jest zapisywany do folderu Obsidian Vault. </a:t>
            </a:r>
          </a:p>
          <a:p>
            <a:pPr marL="720000" defTabSz="44928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Clr>
                <a:srgbClr val="000000"/>
              </a:buClr>
              <a:buFont typeface="Times New Roman"/>
              <a:buAutoNum type="arabicParenR"/>
            </a:pPr>
            <a:r>
              <a:rPr lang="pl-PL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System wysyła potwierdzenie sukcesu na Discord. </a:t>
            </a:r>
          </a:p>
          <a:p>
            <a:pPr defTabSz="449280">
              <a:lnSpc>
                <a:spcPct val="100000"/>
              </a:lnSpc>
            </a:pP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800" cy="537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rmAutofit fontScale="925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alternatywny dla przypadku użycia xxx</a:t>
            </a:r>
            <a:endParaRPr lang="en-GB" sz="32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pole tekstowe 4"/>
          <p:cNvSpPr/>
          <p:nvPr/>
        </p:nvSpPr>
        <p:spPr>
          <a:xfrm>
            <a:off x="428760" y="1179360"/>
            <a:ext cx="8429400" cy="42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Sterować zachowanie AI przy pomocy tagów &lt;NOTE&gt;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</a:pP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85724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aktywności dla przypadku użycia „Przekształcić notatki odręczne do Markdown”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287" name="Picture 286"/>
          <p:cNvPicPr/>
          <p:nvPr/>
        </p:nvPicPr>
        <p:blipFill>
          <a:blip r:embed="rId2"/>
          <a:stretch/>
        </p:blipFill>
        <p:spPr>
          <a:xfrm>
            <a:off x="1800000" y="1440000"/>
            <a:ext cx="5821200" cy="5142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Analiza </a:t>
            </a:r>
            <a:r>
              <a:rPr lang="en-GB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 dirty="0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NOTES-AI</a:t>
            </a:r>
            <a:endParaRPr lang="pl-PL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Nazwa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projektu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NOTES-AI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Zespół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wykonawcy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w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składzie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br>
              <a:rPr sz="2800" dirty="0"/>
            </a:b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Box 2"/>
          <p:cNvSpPr/>
          <p:nvPr/>
        </p:nvSpPr>
        <p:spPr>
          <a:xfrm>
            <a:off x="428760" y="1357200"/>
            <a:ext cx="677010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</a:t>
            </a:r>
            <a:r>
              <a:rPr lang="pl-PL" sz="2400" b="1" dirty="0">
                <a:solidFill>
                  <a:schemeClr val="dk1"/>
                </a:solidFill>
                <a:latin typeface="Times New Roman"/>
              </a:rPr>
              <a:t> Przekształcanie notatki</a:t>
            </a: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:</a:t>
            </a:r>
            <a:r>
              <a:rPr lang="pl-PL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1190520" y="2362320"/>
            <a:ext cx="914364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sp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168267-5ABE-9FB4-CAA3-8232EEA76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680" y="1901502"/>
            <a:ext cx="5439534" cy="46297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20051-6B97-A9F2-D60E-9835991B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Box 2">
            <a:extLst>
              <a:ext uri="{FF2B5EF4-FFF2-40B4-BE49-F238E27FC236}">
                <a16:creationId xmlns:a16="http://schemas.microsoft.com/office/drawing/2014/main" id="{71E59B15-5D81-2E24-056F-329CC43B9F04}"/>
              </a:ext>
            </a:extLst>
          </p:cNvPr>
          <p:cNvSpPr/>
          <p:nvPr/>
        </p:nvSpPr>
        <p:spPr>
          <a:xfrm>
            <a:off x="428760" y="1357200"/>
            <a:ext cx="6943865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49280">
              <a:lnSpc>
                <a:spcPct val="100000"/>
              </a:lnSpc>
            </a:pP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</a:t>
            </a:r>
            <a:r>
              <a:rPr lang="pl-PL" sz="2400" b="1" dirty="0">
                <a:solidFill>
                  <a:schemeClr val="dk1"/>
                </a:solidFill>
                <a:latin typeface="Times New Roman"/>
              </a:rPr>
              <a:t> Administracja systemem</a:t>
            </a:r>
            <a:r>
              <a:rPr lang="pl-PL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:</a:t>
            </a:r>
            <a:r>
              <a:rPr lang="pl-PL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5">
            <a:extLst>
              <a:ext uri="{FF2B5EF4-FFF2-40B4-BE49-F238E27FC236}">
                <a16:creationId xmlns:a16="http://schemas.microsoft.com/office/drawing/2014/main" id="{0A058B81-9A94-31C2-EB87-A5EEE248241A}"/>
              </a:ext>
            </a:extLst>
          </p:cNvPr>
          <p:cNvSpPr/>
          <p:nvPr/>
        </p:nvSpPr>
        <p:spPr>
          <a:xfrm>
            <a:off x="1190520" y="2362320"/>
            <a:ext cx="914364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spAutoFit/>
          </a:bodyPr>
          <a:lstStyle/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1">
            <a:extLst>
              <a:ext uri="{FF2B5EF4-FFF2-40B4-BE49-F238E27FC236}">
                <a16:creationId xmlns:a16="http://schemas.microsoft.com/office/drawing/2014/main" id="{F4A0D76B-374C-E3F7-D577-7D20FF8F1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56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19DADE-F28E-967A-CF35-195EED56C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930" y="1867260"/>
            <a:ext cx="5028473" cy="442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655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98592-CFFA-1816-ADAE-6CB88AAC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ED6D4C6C-616F-FE20-5270-88208012C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2466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Przekształcenie notatki</a:t>
            </a:r>
            <a:endParaRPr lang="en-GB" sz="32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3582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Przetworzyć notatki odręczne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Markdown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0B9447-3D32-3A1C-04B5-71F0D2DFB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23" y="1704734"/>
            <a:ext cx="4143953" cy="344853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54BD0-854A-9F80-10CC-CDBB5EEE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1175EBEC-DF3A-E969-0624-797350A59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Sterować zachowaniem AI za pomocą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tagów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&lt;NOTE&gt;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708792-387F-C54B-9716-669083A0F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392" y="1657102"/>
            <a:ext cx="3877216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20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0A61-811D-5903-21FF-6F101D76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ECC21069-C792-AE16-B79C-22E255DC1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Otrzymać potwierdzenie przetworzenia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B383E4-204A-5861-C0D5-F063BED31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970" y="1652339"/>
            <a:ext cx="4906060" cy="355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6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770B5-C9D3-8209-8FF1-A9848FA8E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A1D9F036-DD56-7704-D9F8-EF88C99FA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Wysłać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C8AC9D-C9A2-9862-F0ED-E78E8960E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75" y="1766655"/>
            <a:ext cx="5734850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331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CDF5F-FEE1-FA75-40E0-A24C2D58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8BA7F148-A6DB-0836-ED6B-31AE5F3CF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246684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</a:t>
            </a:r>
            <a:r>
              <a:rPr lang="pl-PL" sz="3200" b="0" u="none" strike="noStrike" dirty="0" err="1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Administacja</a:t>
            </a:r>
            <a:r>
              <a:rPr lang="pl-PL" sz="32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 systemem</a:t>
            </a:r>
            <a:endParaRPr lang="en-GB" sz="32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7619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49F6-D35A-B060-5275-F2B8E8A2E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F4FE85F8-90C5-07D1-9700-363E12CE9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Dodanie użytkownika do systemu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EA7D2-16BE-2A66-1A3C-4BFA51999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259" y="1528497"/>
            <a:ext cx="4877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771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94DE-6B46-D88B-9957-F070282FA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DE40D841-3F2F-595B-1188-F85A5012D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lokalizację zapisu notatek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CC1A-55A7-FEF3-66DF-76A364826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233" y="1528497"/>
            <a:ext cx="5077534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1831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56E7-B093-C44D-E93C-CD655DD7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AF621885-FDAE-1E20-C77D-C98D9421F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token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Discord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72DC82-B36F-02BD-8AA6-1DF2F64CD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44" y="1895261"/>
            <a:ext cx="4563112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64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06487-3F15-46F7-F8C4-960435C7D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>
            <a:extLst>
              <a:ext uri="{FF2B5EF4-FFF2-40B4-BE49-F238E27FC236}">
                <a16:creationId xmlns:a16="http://schemas.microsoft.com/office/drawing/2014/main" id="{8F879B59-6EB3-6C57-3509-B4DAAA555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Wybór modelu AI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570644-3AE7-0565-5027-67624AE20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049" y="2004813"/>
            <a:ext cx="5029902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913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B1A3E6-B2A8-C8FF-E642-5F26E6434891}"/>
              </a:ext>
            </a:extLst>
          </p:cNvPr>
          <p:cNvSpPr txBox="1"/>
          <p:nvPr/>
        </p:nvSpPr>
        <p:spPr>
          <a:xfrm>
            <a:off x="1189707" y="1795840"/>
            <a:ext cx="65500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DaneDiscord</a:t>
            </a:r>
            <a:r>
              <a:rPr lang="en-GB" dirty="0"/>
              <a:t> Bot: </a:t>
            </a:r>
            <a:endParaRPr lang="pl-PL" dirty="0"/>
          </a:p>
          <a:p>
            <a:r>
              <a:rPr lang="en-GB" dirty="0"/>
              <a:t>Ma </a:t>
            </a:r>
            <a:r>
              <a:rPr lang="en-GB" dirty="0" err="1"/>
              <a:t>możliwość</a:t>
            </a:r>
            <a:r>
              <a:rPr lang="en-GB" dirty="0"/>
              <a:t> </a:t>
            </a:r>
            <a:r>
              <a:rPr lang="en-GB" dirty="0" err="1"/>
              <a:t>dodawania</a:t>
            </a:r>
            <a:r>
              <a:rPr lang="en-GB" dirty="0"/>
              <a:t> </a:t>
            </a:r>
            <a:r>
              <a:rPr lang="en-GB" dirty="0" err="1"/>
              <a:t>użytkowników</a:t>
            </a:r>
            <a:r>
              <a:rPr lang="en-GB" dirty="0"/>
              <a:t> do </a:t>
            </a:r>
            <a:r>
              <a:rPr lang="en-GB" dirty="0" err="1"/>
              <a:t>systemu</a:t>
            </a:r>
            <a:r>
              <a:rPr lang="en-GB" dirty="0"/>
              <a:t> NOTES-AI</a:t>
            </a:r>
            <a:endParaRPr lang="pl-PL" dirty="0"/>
          </a:p>
          <a:p>
            <a:endParaRPr lang="pl-PL" dirty="0"/>
          </a:p>
          <a:p>
            <a:r>
              <a:rPr lang="en-GB" dirty="0"/>
              <a:t>Discord </a:t>
            </a:r>
            <a:r>
              <a:rPr lang="en-GB" dirty="0" err="1"/>
              <a:t>serwer</a:t>
            </a:r>
            <a:r>
              <a:rPr lang="en-GB" dirty="0"/>
              <a:t>: Ruch </a:t>
            </a:r>
            <a:r>
              <a:rPr lang="en-GB" dirty="0" err="1"/>
              <a:t>grupy</a:t>
            </a:r>
            <a:r>
              <a:rPr lang="en-GB" dirty="0"/>
              <a:t> </a:t>
            </a:r>
            <a:r>
              <a:rPr lang="en-GB" dirty="0" err="1"/>
              <a:t>Filozofowie</a:t>
            </a:r>
            <a:r>
              <a:rPr lang="en-GB" dirty="0"/>
              <a:t> </a:t>
            </a:r>
            <a:r>
              <a:rPr lang="en-GB" dirty="0" err="1"/>
              <a:t>Analogowi</a:t>
            </a:r>
            <a:r>
              <a:rPr lang="en-GB" dirty="0"/>
              <a:t> </a:t>
            </a:r>
            <a:r>
              <a:rPr lang="en-GB" dirty="0" err="1"/>
              <a:t>się</a:t>
            </a:r>
            <a:r>
              <a:rPr lang="en-GB" dirty="0"/>
              <a:t> </a:t>
            </a:r>
            <a:r>
              <a:rPr lang="en-GB" dirty="0" err="1"/>
              <a:t>tu</a:t>
            </a:r>
            <a:r>
              <a:rPr lang="en-GB" dirty="0"/>
              <a:t> </a:t>
            </a:r>
            <a:r>
              <a:rPr lang="en-GB" dirty="0" err="1"/>
              <a:t>odbywa</a:t>
            </a:r>
            <a:r>
              <a:rPr lang="en-GB" dirty="0"/>
              <a:t>.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Lokalizacja</a:t>
            </a:r>
            <a:r>
              <a:rPr lang="en-GB" dirty="0"/>
              <a:t> </a:t>
            </a:r>
            <a:r>
              <a:rPr lang="en-GB" dirty="0" err="1"/>
              <a:t>zapisu</a:t>
            </a:r>
            <a:r>
              <a:rPr lang="en-GB" dirty="0"/>
              <a:t> </a:t>
            </a:r>
            <a:r>
              <a:rPr lang="en-GB" dirty="0" err="1"/>
              <a:t>notatek</a:t>
            </a:r>
            <a:r>
              <a:rPr lang="en-GB" dirty="0"/>
              <a:t> Markdown: </a:t>
            </a:r>
            <a:r>
              <a:rPr lang="en-GB" dirty="0" err="1"/>
              <a:t>MIejsce</a:t>
            </a:r>
            <a:r>
              <a:rPr lang="en-GB" dirty="0"/>
              <a:t>, z </a:t>
            </a:r>
            <a:r>
              <a:rPr lang="en-GB" dirty="0" err="1"/>
              <a:t>którego</a:t>
            </a:r>
            <a:r>
              <a:rPr lang="en-GB" dirty="0"/>
              <a:t> </a:t>
            </a:r>
            <a:r>
              <a:rPr lang="en-GB" dirty="0" err="1"/>
              <a:t>użytkownik</a:t>
            </a:r>
            <a:r>
              <a:rPr lang="en-GB" dirty="0"/>
              <a:t> </a:t>
            </a:r>
            <a:r>
              <a:rPr lang="en-GB" dirty="0" err="1"/>
              <a:t>będzie</a:t>
            </a:r>
            <a:r>
              <a:rPr lang="en-GB" dirty="0"/>
              <a:t> </a:t>
            </a:r>
            <a:r>
              <a:rPr lang="en-GB" dirty="0" err="1"/>
              <a:t>przeglądał</a:t>
            </a:r>
            <a:r>
              <a:rPr lang="en-GB" dirty="0"/>
              <a:t> </a:t>
            </a:r>
            <a:r>
              <a:rPr lang="en-GB" dirty="0" err="1"/>
              <a:t>notatki</a:t>
            </a:r>
            <a:r>
              <a:rPr lang="en-GB" dirty="0"/>
              <a:t> w </a:t>
            </a:r>
            <a:r>
              <a:rPr lang="en-GB" dirty="0" err="1"/>
              <a:t>programie</a:t>
            </a:r>
            <a:r>
              <a:rPr lang="en-GB" dirty="0"/>
              <a:t> 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ObsidianObsidian</a:t>
            </a:r>
            <a:r>
              <a:rPr lang="en-GB" dirty="0"/>
              <a:t>: </a:t>
            </a:r>
            <a:r>
              <a:rPr lang="en-GB" dirty="0" err="1"/>
              <a:t>Aplikacja</a:t>
            </a:r>
            <a:r>
              <a:rPr lang="en-GB" dirty="0"/>
              <a:t> do </a:t>
            </a:r>
            <a:r>
              <a:rPr lang="en-GB" dirty="0" err="1"/>
              <a:t>przeglądania</a:t>
            </a:r>
            <a:r>
              <a:rPr lang="en-GB" dirty="0"/>
              <a:t> </a:t>
            </a:r>
            <a:r>
              <a:rPr lang="en-GB" dirty="0" err="1"/>
              <a:t>notatek</a:t>
            </a:r>
            <a:endParaRPr lang="pl-PL" dirty="0"/>
          </a:p>
          <a:p>
            <a:endParaRPr lang="pl-PL" dirty="0"/>
          </a:p>
          <a:p>
            <a:r>
              <a:rPr lang="en-GB" dirty="0" err="1"/>
              <a:t>Użytkownik</a:t>
            </a:r>
            <a:r>
              <a:rPr lang="en-GB" dirty="0"/>
              <a:t>: </a:t>
            </a:r>
            <a:r>
              <a:rPr lang="en-GB" dirty="0" err="1"/>
              <a:t>Użytkownik</a:t>
            </a:r>
            <a:r>
              <a:rPr lang="en-GB" dirty="0"/>
              <a:t> </a:t>
            </a:r>
            <a:r>
              <a:rPr lang="en-GB" dirty="0" err="1"/>
              <a:t>systemu</a:t>
            </a:r>
            <a:r>
              <a:rPr lang="en-GB" dirty="0"/>
              <a:t> NOTES-</a:t>
            </a:r>
            <a:r>
              <a:rPr lang="en-GB" dirty="0" err="1"/>
              <a:t>AIZaplecze</a:t>
            </a:r>
            <a:r>
              <a:rPr lang="en-GB" dirty="0"/>
              <a:t> </a:t>
            </a:r>
            <a:r>
              <a:rPr lang="en-GB" dirty="0" err="1"/>
              <a:t>systemu</a:t>
            </a:r>
            <a:r>
              <a:rPr lang="en-GB" dirty="0"/>
              <a:t> notes AI: </a:t>
            </a:r>
            <a:r>
              <a:rPr lang="en-GB" dirty="0" err="1"/>
              <a:t>Zaplecze</a:t>
            </a:r>
            <a:r>
              <a:rPr lang="en-GB" dirty="0"/>
              <a:t> Notes AI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134BB-EA96-9709-2D51-9544D8F0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7254AD81-FFC4-5938-72FE-A4EF942D1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 cd.)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60B10A-F768-9633-5F68-865A438EFBB7}"/>
              </a:ext>
            </a:extLst>
          </p:cNvPr>
          <p:cNvSpPr txBox="1"/>
          <p:nvPr/>
        </p:nvSpPr>
        <p:spPr>
          <a:xfrm>
            <a:off x="312202" y="1148140"/>
            <a:ext cx="805709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600" dirty="0"/>
              <a:t>Dane Aplikacja </a:t>
            </a:r>
          </a:p>
          <a:p>
            <a:r>
              <a:rPr lang="pl-PL" sz="1600" dirty="0" err="1"/>
              <a:t>Obsidian</a:t>
            </a:r>
            <a:r>
              <a:rPr lang="pl-PL" sz="1600" dirty="0"/>
              <a:t>: Aplikacja </a:t>
            </a:r>
            <a:r>
              <a:rPr lang="pl-PL" sz="1600" dirty="0" err="1"/>
              <a:t>Obsidian</a:t>
            </a:r>
            <a:r>
              <a:rPr lang="pl-PL" sz="1600" dirty="0"/>
              <a:t>, na której użytkownik może wyświetlić notatkę </a:t>
            </a:r>
            <a:r>
              <a:rPr lang="pl-PL" sz="1600" dirty="0" err="1"/>
              <a:t>Markdown</a:t>
            </a:r>
            <a:endParaRPr lang="pl-PL" sz="1600" dirty="0"/>
          </a:p>
          <a:p>
            <a:endParaRPr lang="pl-PL" sz="1600" dirty="0"/>
          </a:p>
          <a:p>
            <a:r>
              <a:rPr lang="pl-PL" sz="1600" dirty="0"/>
              <a:t>Bot </a:t>
            </a:r>
            <a:r>
              <a:rPr lang="pl-PL" sz="1600" dirty="0" err="1"/>
              <a:t>Discord</a:t>
            </a:r>
            <a:r>
              <a:rPr lang="pl-PL" sz="1600" dirty="0"/>
              <a:t>: Bot śledzący aktywność na serwerze </a:t>
            </a:r>
            <a:r>
              <a:rPr lang="pl-PL" sz="1600" dirty="0" err="1"/>
              <a:t>discord</a:t>
            </a:r>
            <a:r>
              <a:rPr lang="pl-PL" sz="1600" dirty="0"/>
              <a:t>, reaguje na wgrane zdjęcia.</a:t>
            </a:r>
          </a:p>
          <a:p>
            <a:endParaRPr lang="pl-PL" sz="1600" dirty="0"/>
          </a:p>
          <a:p>
            <a:r>
              <a:rPr lang="pl-PL" sz="1600" dirty="0"/>
              <a:t>Kolejka zdjęć: Przechowuje w odpowiedniej </a:t>
            </a:r>
            <a:r>
              <a:rPr lang="pl-PL" sz="1600" dirty="0" err="1"/>
              <a:t>kolejości</a:t>
            </a:r>
            <a:r>
              <a:rPr lang="pl-PL" sz="1600" dirty="0"/>
              <a:t> zdjęcia wgrywane do zaplecza systemu w celu przetworzenia </a:t>
            </a:r>
            <a:r>
              <a:rPr lang="pl-PL" sz="1600" dirty="0" err="1"/>
              <a:t>bezprzeciążenia</a:t>
            </a:r>
            <a:r>
              <a:rPr lang="pl-PL" sz="1600" dirty="0"/>
              <a:t> infrastruktury.</a:t>
            </a:r>
          </a:p>
          <a:p>
            <a:endParaRPr lang="pl-PL" sz="1600" dirty="0"/>
          </a:p>
          <a:p>
            <a:r>
              <a:rPr lang="pl-PL" sz="1600" dirty="0"/>
              <a:t>Notatka analogowa: Zdjęcie notatki ręcznie napisanej przez użytkownika systemu.</a:t>
            </a:r>
          </a:p>
          <a:p>
            <a:endParaRPr lang="pl-PL" sz="1600" dirty="0"/>
          </a:p>
          <a:p>
            <a:r>
              <a:rPr lang="pl-PL" sz="1600" dirty="0"/>
              <a:t>Notatka </a:t>
            </a:r>
            <a:r>
              <a:rPr lang="pl-PL" sz="1600" dirty="0" err="1"/>
              <a:t>Markdown</a:t>
            </a:r>
            <a:r>
              <a:rPr lang="pl-PL" sz="1600" dirty="0"/>
              <a:t>: </a:t>
            </a:r>
            <a:r>
              <a:rPr lang="pl-PL" sz="1600" dirty="0" err="1"/>
              <a:t>Zdigitalizowana</a:t>
            </a:r>
            <a:r>
              <a:rPr lang="pl-PL" sz="1600" dirty="0"/>
              <a:t> notatka użytkownika po obsłużeniu przez system NOTES-AI</a:t>
            </a:r>
          </a:p>
          <a:p>
            <a:endParaRPr lang="pl-PL" sz="1600" dirty="0"/>
          </a:p>
          <a:p>
            <a:r>
              <a:rPr lang="pl-PL" sz="1600" dirty="0"/>
              <a:t>Silnik do inferencji dużych modeli językowych: Silnik do inferencji LLM, np. </a:t>
            </a:r>
            <a:r>
              <a:rPr lang="pl-PL" sz="1600" dirty="0" err="1"/>
              <a:t>Ollama</a:t>
            </a:r>
            <a:r>
              <a:rPr lang="pl-PL" sz="1600" dirty="0"/>
              <a:t>, przetwarza </a:t>
            </a:r>
            <a:r>
              <a:rPr lang="pl-PL" sz="1600" dirty="0" err="1"/>
              <a:t>zdjecia</a:t>
            </a:r>
            <a:r>
              <a:rPr lang="pl-PL" sz="1600" dirty="0"/>
              <a:t> na </a:t>
            </a:r>
            <a:r>
              <a:rPr lang="pl-PL" sz="1600" dirty="0" err="1"/>
              <a:t>markdown</a:t>
            </a:r>
            <a:endParaRPr lang="pl-PL" sz="1600" dirty="0"/>
          </a:p>
          <a:p>
            <a:endParaRPr lang="pl-PL" sz="1600" dirty="0"/>
          </a:p>
          <a:p>
            <a:r>
              <a:rPr lang="pl-PL" sz="1600" dirty="0"/>
              <a:t>Użytkownik: Wgrywa zdjęcia notatek do systemu NOTES-AI</a:t>
            </a:r>
          </a:p>
          <a:p>
            <a:endParaRPr lang="pl-PL" sz="1600" dirty="0"/>
          </a:p>
          <a:p>
            <a:r>
              <a:rPr lang="pl-PL" sz="1600" dirty="0"/>
              <a:t>Zaplecze przetwarzające notatki: Zaplecze systemu NOTES-AI z całą niewidoczną infrastrukturą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97050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7464-604D-89E6-DFB2-DA6EF5A4A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C6EFC421-F3EE-92B4-E0A0-E9846FBC1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Klasy analityczne administracji systemem</a:t>
            </a: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(diagram)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E85079-22CD-6053-DD40-CE2E381DC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80" y="1547630"/>
            <a:ext cx="7672911" cy="448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065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519ED-D0CC-1C26-C6A0-04B7AECBA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>
            <a:extLst>
              <a:ext uri="{FF2B5EF4-FFF2-40B4-BE49-F238E27FC236}">
                <a16:creationId xmlns:a16="http://schemas.microsoft.com/office/drawing/2014/main" id="{05E2A5E6-AC06-6EBB-F2B2-48331976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Klasy analityczne obszaru przekształcenia notatki</a:t>
            </a: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(diagram)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AD1EB8-8F7A-5DF8-F0B7-F8F221AA0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13" y="1635369"/>
            <a:ext cx="7382214" cy="400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697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sekwencji dla realizacji przypadku użycia xxx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C2BA9-A218-9A4F-5486-8910FFC7D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9CF4A4A3-26FC-BE49-B86F-2751EE9B4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160" y="2470150"/>
            <a:ext cx="7357680" cy="174625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6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Przekształcenie notatki</a:t>
            </a:r>
            <a:endParaRPr lang="en-GB" sz="36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778727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Przetworzyć notatki odręczne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Markdown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34A76B-579E-FA21-F8CA-7F05F58F3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15" y="1085523"/>
            <a:ext cx="8564170" cy="468695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BF375-E633-228E-7191-803D529F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93348401-571F-00F3-F4D0-804EE8A4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Sterować zachowaniem AI za pomocą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tagów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&lt;NOTE&gt;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0ACCC-F229-D689-3190-92293E042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416" y="1171260"/>
            <a:ext cx="6211167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1259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66554-F549-0330-7148-2DA53DE5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F58FCD3-3E39-FEBF-F4C6-DED59B03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Otrzymać potwierdzenie przetworzenia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D31F-631B-3F0B-AB96-A0665EB28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16" y="1109339"/>
            <a:ext cx="7297168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2102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A673-D4B2-E5FB-94BE-21E4589EF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6593BCC-54ED-BECF-58B5-E0FE5EBCF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Wysłać notatki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C1AC55-134B-1BA1-1EE3-28FF7E68D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68" y="1128391"/>
            <a:ext cx="7078063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7901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8B9A-EC9A-4F6C-54E8-434090330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0E84E56A-F0E2-30B4-C257-395A2E82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160" y="2470150"/>
            <a:ext cx="7357680" cy="174625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36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Administracji systemem</a:t>
            </a:r>
            <a:endParaRPr lang="en-GB" sz="36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237620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C073E-0EC7-9C56-7976-352D85246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3852AE7-7B53-A62E-4B9A-FE9046461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Dodanie użytkownika do systemu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0D68F4-DB0B-04BF-CC83-3729920DC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79" y="1104575"/>
            <a:ext cx="7106642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15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6DD5-180E-BD40-55BA-DD6171E0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F40C808C-6183-E9B0-964E-DADAD5314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lokalizację zapisu notatek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9B6F1-F828-9CED-D11C-50B16D909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47" y="1190312"/>
            <a:ext cx="7020905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8251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9D6A8-1E44-9BF1-8E6A-186215479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3159C7B-F199-1202-6F69-F7F4FE48B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ścieżkę do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Obsidian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Vault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74EA45-16F7-C25C-2F68-FBF1CF811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85" y="1199839"/>
            <a:ext cx="6306430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166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A3BD-36DA-499B-3674-D8CDDF50D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C1C20E19-34C7-8956-179A-A2DE626FF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Skonfigurować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token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l-PL" sz="2400" dirty="0" err="1">
                <a:solidFill>
                  <a:schemeClr val="accent2">
                    <a:lumMod val="75000"/>
                  </a:schemeClr>
                </a:solidFill>
              </a:rPr>
              <a:t>Discord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BEFDA1-04C2-3C19-F606-25DCCE9AF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58" y="1004549"/>
            <a:ext cx="6687483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63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0E11C-BDFD-FC9A-1D03-F1B7325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>
            <a:extLst>
              <a:ext uri="{FF2B5EF4-FFF2-40B4-BE49-F238E27FC236}">
                <a16:creationId xmlns:a16="http://schemas.microsoft.com/office/drawing/2014/main" id="{00ABF125-2384-AEED-8120-19434F5FB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2400" b="0" u="none" strike="noStrike" dirty="0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</a:t>
            </a:r>
            <a:r>
              <a:rPr lang="pl-PL" sz="2400" dirty="0">
                <a:solidFill>
                  <a:schemeClr val="accent2">
                    <a:lumMod val="75000"/>
                  </a:schemeClr>
                </a:solidFill>
              </a:rPr>
              <a:t>Wybór modelu AI</a:t>
            </a:r>
            <a:endParaRPr lang="en-GB" sz="2400" b="0" u="none" strike="noStrike" dirty="0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DFB1B4-23F9-B050-DF95-D0C0236E4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63" y="1080760"/>
            <a:ext cx="7697274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019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Box 1"/>
          <p:cNvSpPr/>
          <p:nvPr/>
        </p:nvSpPr>
        <p:spPr>
          <a:xfrm>
            <a:off x="642960" y="500040"/>
            <a:ext cx="7772040" cy="1431720"/>
          </a:xfrm>
          <a:prstGeom prst="rect">
            <a:avLst/>
          </a:prstGeom>
          <a:noFill/>
          <a:ln w="952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49280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Projektowanie 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Box 2"/>
          <p:cNvSpPr/>
          <p:nvPr/>
        </p:nvSpPr>
        <p:spPr>
          <a:xfrm>
            <a:off x="500040" y="2286000"/>
            <a:ext cx="8143560" cy="411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Nazwa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projektu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 </a:t>
            </a:r>
            <a:r>
              <a:rPr lang="pl-PL" sz="28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xxx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endParaRPr lang="pl-PL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Zespół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wykonawcy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 w </a:t>
            </a:r>
            <a:r>
              <a:rPr lang="en-GB" sz="2800" b="0" u="none" strike="noStrike" dirty="0" err="1">
                <a:solidFill>
                  <a:srgbClr val="000000"/>
                </a:solidFill>
                <a:effectLst/>
                <a:uFillTx/>
                <a:latin typeface="Times New Roman"/>
              </a:rPr>
              <a:t>składzie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: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</a:tabLst>
            </a:pP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800" b="0" u="none" strike="noStrike" dirty="0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stanów do obiektu klasy xxx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pakietów: model warstw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komponentów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wdrożenia systemu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680" cy="5029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0" numCol="1" spcCol="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Kod systemu: jako wynik transformacji</a:t>
            </a:r>
            <a:endParaRPr lang="en-GB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/>
        <a:ea typeface=""/>
        <a:cs typeface=""/>
      </a:majorFont>
      <a:minorFont>
        <a:latin typeface="Constantia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/>
        </a:gradFill>
        <a:blipFill rotWithShape="0">
          <a:blip xmlns:r="http://schemas.openxmlformats.org/officeDocument/2006/relationships" r:embed="rId1"/>
          <a:srcRect/>
          <a:tile tx="0" ty="0" sx="65000" sy="65000" flip="none" algn="tl"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1689</TotalTime>
  <Words>1005</Words>
  <Application>Microsoft Office PowerPoint</Application>
  <PresentationFormat>On-screen Show (4:3)</PresentationFormat>
  <Paragraphs>146</Paragraphs>
  <Slides>53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53</vt:i4>
      </vt:variant>
    </vt:vector>
  </HeadingPairs>
  <TitlesOfParts>
    <vt:vector size="63" baseType="lpstr">
      <vt:lpstr>Arial</vt:lpstr>
      <vt:lpstr>Calibri</vt:lpstr>
      <vt:lpstr>Constantia</vt:lpstr>
      <vt:lpstr>Symbol</vt:lpstr>
      <vt:lpstr>Times New Roman</vt:lpstr>
      <vt:lpstr>Wingdings</vt:lpstr>
      <vt:lpstr>Wingdings 2</vt:lpstr>
      <vt:lpstr>Przepływ</vt:lpstr>
      <vt:lpstr>Przepływ</vt:lpstr>
      <vt:lpstr>Przepływ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przypadków użycia</vt:lpstr>
      <vt:lpstr>Administrowanie systemem</vt:lpstr>
      <vt:lpstr>Specyfikacja aktorów</vt:lpstr>
      <vt:lpstr>Diagram (głównych) przypadków użycia</vt:lpstr>
      <vt:lpstr>Scenariusz główny dla przypadku użycia  “Przetworzyć notatki odręczne do Markdown”</vt:lpstr>
      <vt:lpstr>Scenariusz alternatywny dla przypadku użycia xxx</vt:lpstr>
      <vt:lpstr>Diagram aktywności dla przypadku użycia „Przekształcić notatki odręczne do Markdown”</vt:lpstr>
      <vt:lpstr>PowerPoint Presentation</vt:lpstr>
      <vt:lpstr>Diagram realizacji przypadków użycia  </vt:lpstr>
      <vt:lpstr>Diagram realizacji przypadków użycia  </vt:lpstr>
      <vt:lpstr>Diagramy VOPC dla realizacji przypadków użycia Przekształcenie notatki</vt:lpstr>
      <vt:lpstr>Diagram VOPC dla realizacji przypadku użycia Przetworzyć notatki odręczne do Markdown</vt:lpstr>
      <vt:lpstr>Diagram VOPC dla realizacji przypadku użycia Sterować zachowaniem AI za pomocą tagów &lt;NOTE&gt;</vt:lpstr>
      <vt:lpstr>Diagram VOPC dla realizacji przypadku użycia Otrzymać potwierdzenie przetworzenia</vt:lpstr>
      <vt:lpstr>Diagram VOPC dla realizacji przypadku użycia Wysłać notatki</vt:lpstr>
      <vt:lpstr>Diagramy VOPC dla realizacji przypadków użycia Administacja systemem</vt:lpstr>
      <vt:lpstr>Diagram VOPC dla realizacji przypadku użycia Dodanie użytkownika do systemu</vt:lpstr>
      <vt:lpstr>Diagram VOPC dla realizacji przypadku użycia Skonfigurować lokalizację zapisu notatek</vt:lpstr>
      <vt:lpstr>Diagram VOPC dla realizacji przypadku użycia Skonfigurować token Discord</vt:lpstr>
      <vt:lpstr>Diagram VOPC dla realizacji przypadku użycia Wybór modelu AI</vt:lpstr>
      <vt:lpstr>Definicje klas analitycznych (opis)</vt:lpstr>
      <vt:lpstr>Definicje klas analitycznych (opis cd.)</vt:lpstr>
      <vt:lpstr>Klasy analityczne administracji systemem(diagram)</vt:lpstr>
      <vt:lpstr>Klasy analityczne obszaru przekształcenia notatki(diagram)</vt:lpstr>
      <vt:lpstr>Diagram sekwencji dla realizacji przypadku użycia xxx</vt:lpstr>
      <vt:lpstr>Diagramy komunikacji dla realizacji przypadków użycia Przekształcenie notatki</vt:lpstr>
      <vt:lpstr>Diagram komunikacji dla realizacji przypadku użycia Przetworzyć notatki odręczne do Markdown</vt:lpstr>
      <vt:lpstr>Diagram komunikacji dla realizacji przypadku użycia Sterować zachowaniem AI za pomocą tagów &lt;NOTE&gt;</vt:lpstr>
      <vt:lpstr>Diagram komunikacji dla realizacji przypadku użycia Otrzymać potwierdzenie przetworzenia</vt:lpstr>
      <vt:lpstr>Diagram komunikacji dla realizacji przypadku użycia Wysłać notatki</vt:lpstr>
      <vt:lpstr>Diagramy komunikacji dla realizacji przypadków użycia Administracji systemem</vt:lpstr>
      <vt:lpstr>Diagram komunikacji dla realizacji przypadku użycia Dodanie użytkownika do systemu</vt:lpstr>
      <vt:lpstr>Diagram komunikacji dla realizacji przypadku użycia Skonfigurować lokalizację zapisu notatek</vt:lpstr>
      <vt:lpstr>Diagram komunikacji dla realizacji przypadku użycia Skonfigurować ścieżkę do Obsidian Vault</vt:lpstr>
      <vt:lpstr>Diagram komunikacji dla realizacji przypadku użycia Skonfigurować token Discord</vt:lpstr>
      <vt:lpstr>Diagram komunikacji dla realizacji przypadku użycia Wybór modelu AI</vt:lpstr>
      <vt:lpstr>PowerPoint Presentation</vt:lpstr>
      <vt:lpstr>Diagram klas projektowych</vt:lpstr>
      <vt:lpstr>Opis klas projektowych</vt:lpstr>
      <vt:lpstr>Diagram stanów do obiektu klasy xxx</vt:lpstr>
      <vt:lpstr>Diagram pakietów: model warstw systemu</vt:lpstr>
      <vt:lpstr>Diagram komponentów systemu</vt:lpstr>
      <vt:lpstr>Diagram wdrożenia systemu</vt:lpstr>
      <vt:lpstr>Kod systemu: jako wynik transformacji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subject/>
  <dc:creator>astasiak</dc:creator>
  <dc:description/>
  <cp:lastModifiedBy>Piotr Gugnowski</cp:lastModifiedBy>
  <cp:revision>229</cp:revision>
  <cp:lastPrinted>1601-01-01T00:00:00Z</cp:lastPrinted>
  <dcterms:created xsi:type="dcterms:W3CDTF">1601-01-01T00:00:00Z</dcterms:created>
  <dcterms:modified xsi:type="dcterms:W3CDTF">2026-04-01T19:44:23Z</dcterms:modified>
  <dc:language>pl-PL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Pokaz na ekranie (4:3)</vt:lpwstr>
  </property>
  <property fmtid="{D5CDD505-2E9C-101B-9397-08002B2CF9AE}" pid="4" name="Slides">
    <vt:i4>30</vt:i4>
  </property>
</Properties>
</file>