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Kliknij, aby przesunąć slajd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dt" idx="5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ftr" idx="5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 type="sldNum" idx="5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C2D9C13-E113-4FCB-A110-C47FBACFC3FC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2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Box 1"/>
          <p:cNvSpPr/>
          <p:nvPr/>
        </p:nvSpPr>
        <p:spPr>
          <a:xfrm>
            <a:off x="1440" y="0"/>
            <a:ext cx="1080" cy="1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Box 1"/>
          <p:cNvSpPr/>
          <p:nvPr/>
        </p:nvSpPr>
        <p:spPr>
          <a:xfrm>
            <a:off x="1440" y="0"/>
            <a:ext cx="1080" cy="10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3560" bIns="-4356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Box 1"/>
          <p:cNvSpPr/>
          <p:nvPr/>
        </p:nvSpPr>
        <p:spPr>
          <a:xfrm>
            <a:off x="2143080" y="695160"/>
            <a:ext cx="2571480" cy="3428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600" cy="4114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ajd tytuł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3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4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5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3520" y="1371600"/>
            <a:ext cx="7851240" cy="1828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18360" tIns="0" bIns="0" anchor="b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lang="pl-PL" sz="5600" b="1" u="none" strike="noStrike">
                <a:solidFill>
                  <a:schemeClr val="accent3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GB" sz="5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5735942-ECB7-4F7F-ACB7-019A2BF77072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główek sekcji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54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55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56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30280" y="1316880"/>
            <a:ext cx="7772040" cy="1362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600" b="1" u="none" strike="noStrike">
                <a:solidFill>
                  <a:schemeClr val="accent4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GB" sz="5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30280" y="2704680"/>
            <a:ext cx="7772040" cy="150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lang="pl-PL" sz="2200" b="0" u="none" strike="noStrike">
                <a:solidFill>
                  <a:schemeClr val="lt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2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16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7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ED263AB-65C5-4F66-96C1-BC3442562236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ytuł i tekst pion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3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4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9240" cy="438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72880" indent="-27288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BE56230-5D2F-4F16-BA33-ADF13758D8B9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ytuł pionowy i teks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4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914400"/>
            <a:ext cx="2057040" cy="521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 vert="eaVer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914400"/>
            <a:ext cx="6019560" cy="521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72880" indent="-27288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1A23EEA0-88F6-43DC-A3FF-4FFBCEA6D91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2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39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34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1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784EC0C-2D0B-49DB-87EE-E73DC94AA79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2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33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34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0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7FE21DA3-937B-41BE-AD16-1ACEB5D57B79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ytuł i zawartość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44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45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46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9240" cy="438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3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4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7A08A71-4EEB-47DF-A98B-C09112C0F1E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wa elementy zawartości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4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65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66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920240"/>
            <a:ext cx="4038120" cy="44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48320" y="1920240"/>
            <a:ext cx="4038120" cy="443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19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20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6BA90578-8217-4907-955E-F141CBA2E68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ównan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5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76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77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855080"/>
            <a:ext cx="4039920" cy="659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45080" y="1859760"/>
            <a:ext cx="4041360" cy="65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0" bIns="0" anchor="ctr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514600"/>
            <a:ext cx="4039920" cy="384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645080" y="2514600"/>
            <a:ext cx="4041360" cy="3845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ftr" idx="22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8"/>
          <p:cNvSpPr>
            <a:spLocks noGrp="1"/>
          </p:cNvSpPr>
          <p:nvPr>
            <p:ph type="sldNum" idx="23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EBFE25F4-999C-42A8-8E26-0D74C4C043D3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ylko tytu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8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89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90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30556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rm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ftr" idx="25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6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9DAFC71-F23F-4449-8725-CA403A7A08B9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ust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9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9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28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29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69E57E9-A04B-444C-ACE3-40F80C43C2D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Kliknij, aby edytować format tekstu tytułu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wartość z podpise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0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0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85800" y="514440"/>
            <a:ext cx="274284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26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1676520"/>
            <a:ext cx="274284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18360" rIns="1836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pl-PL" sz="1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575160" y="1676520"/>
            <a:ext cx="5111280" cy="457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0" bIns="45720" anchor="t">
            <a:noAutofit/>
          </a:bodyPr>
          <a:p>
            <a:pPr marL="272880" indent="-272880">
              <a:lnSpc>
                <a:spcPct val="10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2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>
              <a:lnSpc>
                <a:spcPct val="100000"/>
              </a:lnSpc>
              <a:spcBef>
                <a:spcPts val="51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>
              <a:lnSpc>
                <a:spcPct val="100000"/>
              </a:lnSpc>
              <a:spcBef>
                <a:spcPts val="479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31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ldNum" idx="32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57F5EE0-4C50-44EC-AD89-1FF1596728D0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az z podpise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owolny kształt 6" hidden="1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8" name="Dowolny kształt 7" hidden="1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19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20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2" name="Prostokąt ze ściętym i zaokrąglonym rogiem 13"/>
          <p:cNvSpPr/>
          <p:nvPr/>
        </p:nvSpPr>
        <p:spPr>
          <a:xfrm flipV="1" rot="420000">
            <a:off x="3165120" y="1108080"/>
            <a:ext cx="5257440" cy="411444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cap="rnd" w="3175">
            <a:solidFill>
              <a:srgbClr val="c0c0c0"/>
            </a:solidFill>
            <a:round/>
          </a:ln>
          <a:effectLst>
            <a:outerShdw algn="tl" blurRad="63360" dir="7502171" dist="38251" kx="100000" rotWithShape="0" sx="98500" sy="10008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123" name="Trójkąt prostokątny 5"/>
          <p:cNvSpPr/>
          <p:nvPr/>
        </p:nvSpPr>
        <p:spPr>
          <a:xfrm flipV="1" rot="420000">
            <a:off x="8003880" y="5358240"/>
            <a:ext cx="155160" cy="15516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</a:ln>
          <a:effectLst>
            <a:outerShdw algn="tl" blurRad="19800" dir="12932261" dist="6193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124" name="Dowolny kształt 6"/>
          <p:cNvSpPr/>
          <p:nvPr/>
        </p:nvSpPr>
        <p:spPr>
          <a:xfrm flipV="1">
            <a:off x="-9000" y="581616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162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5" name="Dowolny kształt 7"/>
          <p:cNvSpPr/>
          <p:nvPr/>
        </p:nvSpPr>
        <p:spPr>
          <a:xfrm flipV="1">
            <a:off x="4381560" y="62197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162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176840"/>
            <a:ext cx="2212560" cy="1582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45720" rIns="4572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2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2828880"/>
            <a:ext cx="2209320" cy="2179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64080" rIns="4572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</a:tabLst>
            </a:pPr>
            <a:r>
              <a:rPr lang="pl-PL" sz="13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GB" sz="13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 rot="420000">
            <a:off x="3485520" y="1199160"/>
            <a:ext cx="4617360" cy="3931560"/>
          </a:xfrm>
          <a:prstGeom prst="rect">
            <a:avLst/>
          </a:prstGeom>
          <a:solidFill>
            <a:schemeClr val="lt2"/>
          </a:solidFill>
          <a:ln cap="rnd" w="2880">
            <a:solidFill>
              <a:srgbClr val="c0c0c0"/>
            </a:solidFill>
            <a:round/>
          </a:ln>
        </p:spPr>
        <p:txBody>
          <a:bodyPr lIns="90000" rIns="90000" tIns="45000" bIns="45000" anchor="t">
            <a:normAutofit/>
          </a:bodyPr>
          <a:p>
            <a:pPr indent="0" defTabSz="44928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l-PL" sz="32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 ikonę, aby dodać obraz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34"/>
          </p:nvPr>
        </p:nvSpPr>
        <p:spPr>
          <a:xfrm>
            <a:off x="2666880" y="6356520"/>
            <a:ext cx="33523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35"/>
          </p:nvPr>
        </p:nvSpPr>
        <p:spPr>
          <a:xfrm>
            <a:off x="8077320" y="6356520"/>
            <a:ext cx="609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8FAE203-9D65-4A2A-AFA0-22E81FB3B706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3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34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35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36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CF1ADBE5-1F86-4E45-93E0-C76DE76BDBE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3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40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35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37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278A497-B96E-4026-B4BC-E587BDD6FB2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5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46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47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38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3A7E9ACA-C127-4894-88CF-4CE7EF52F92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5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52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47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39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06FB429A-2DC0-4129-A531-97C769AB998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3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5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5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40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C6B69965-4661-4C56-B301-B5A05FF99A8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64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5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41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A6A304AF-A5D9-4D75-A9EE-68EA0858D78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4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9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0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71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42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E8333B0-7001-4AB8-9592-CCCDC0F35AB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9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6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71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43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846B3DFD-7F1D-49E4-9040-F3951392FCE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5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1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82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83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ldNum" idx="44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985CBD58-B937-4BA9-A929-0A3E39E83ED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1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8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83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4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45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7A9B138-83D4-45D3-A7E0-0A96CB33272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3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94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95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46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0C2AD060-149C-4CA3-AE0D-F17383EE665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3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00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195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ldNum" idx="47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C00D25B9-1290-4054-AF13-E154923E5E9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7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5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06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07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ldNum" idx="48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D0498274-CF3B-4005-9018-A22B45E57C5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5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2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07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8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ldNum" idx="49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9312D17C-BFFB-4A82-8490-2896834027A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8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1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50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6BAC143-0DFA-4513-84C6-72ABC5995CD9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7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24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19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51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584988E0-D94E-4CB4-AA56-1AC86B79BA6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9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9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0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31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2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52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DEE45F26-128E-4445-BF43-577978415DA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9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6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31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2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53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FD89AB9E-34D7-45E6-8446-CAF27CEB365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0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1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42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43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54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24F86862-C8B5-4B59-98FA-D66DF09108B6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Układ niestandardow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owolny kształt 6"/>
          <p:cNvSpPr/>
          <p:nvPr/>
        </p:nvSpPr>
        <p:spPr>
          <a:xfrm>
            <a:off x="-9360" y="-7920"/>
            <a:ext cx="9162720" cy="1041120"/>
          </a:xfrm>
          <a:custGeom>
            <a:avLst/>
            <a:gdLst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1" name="Dowolny kształt 7"/>
          <p:cNvSpPr/>
          <p:nvPr/>
        </p:nvSpPr>
        <p:spPr>
          <a:xfrm>
            <a:off x="4381560" y="-7920"/>
            <a:ext cx="4762080" cy="637920"/>
          </a:xfrm>
          <a:custGeom>
            <a:avLst/>
            <a:gdLst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48" name="Grupa 1"/>
          <p:cNvGrpSpPr/>
          <p:nvPr/>
        </p:nvGrpSpPr>
        <p:grpSpPr>
          <a:xfrm>
            <a:off x="-29160" y="-15480"/>
            <a:ext cx="9197640" cy="1084680"/>
            <a:chOff x="-29160" y="-15480"/>
            <a:chExt cx="9197640" cy="1084680"/>
          </a:xfrm>
        </p:grpSpPr>
        <p:sp>
          <p:nvSpPr>
            <p:cNvPr id="243" name="Dowolny kształt 11"/>
            <p:cNvSpPr/>
            <p:nvPr/>
          </p:nvSpPr>
          <p:spPr>
            <a:xfrm rot="21435600">
              <a:off x="-18720" y="203040"/>
              <a:ext cx="9162720" cy="647280"/>
            </a:xfrm>
            <a:custGeom>
              <a:avLst/>
              <a:gdLst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Dowolny kształt 12"/>
            <p:cNvSpPr/>
            <p:nvPr/>
          </p:nvSpPr>
          <p:spPr>
            <a:xfrm rot="21435600">
              <a:off x="-14040" y="276120"/>
              <a:ext cx="9175320" cy="528840"/>
            </a:xfrm>
            <a:custGeom>
              <a:avLst/>
              <a:gdLst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ldNum" idx="55"/>
          </p:nvPr>
        </p:nvSpPr>
        <p:spPr>
          <a:xfrm>
            <a:off x="7924680" y="6356520"/>
            <a:ext cx="7617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</a:pPr>
            <a:fld id="{B3306CC6-7752-4758-A009-57F3E1D6E796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GB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GB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Box 1"/>
          <p:cNvSpPr/>
          <p:nvPr/>
        </p:nvSpPr>
        <p:spPr>
          <a:xfrm>
            <a:off x="642960" y="928800"/>
            <a:ext cx="7772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Końcowy p</a:t>
            </a: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rzegląd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2"/>
          <p:cNvSpPr/>
          <p:nvPr/>
        </p:nvSpPr>
        <p:spPr>
          <a:xfrm>
            <a:off x="571680" y="2428920"/>
            <a:ext cx="814356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Nazwa projektu: NOTES  AI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Piotr Gugnowski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2. Adam Dąbkowski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3. Adrian Cieśla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Box 1"/>
          <p:cNvSpPr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Krótka charakterystyka organizacji zamawiającego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Box 2"/>
          <p:cNvSpPr/>
          <p:nvPr/>
        </p:nvSpPr>
        <p:spPr>
          <a:xfrm>
            <a:off x="642960" y="1571760"/>
            <a:ext cx="7772040" cy="42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algn="l" pos="339840"/>
                <a:tab algn="l" pos="787320"/>
                <a:tab algn="l" pos="1236600"/>
                <a:tab algn="l" pos="1685880"/>
                <a:tab algn="l" pos="2135160"/>
                <a:tab algn="l" pos="2584440"/>
                <a:tab algn="l" pos="3033720"/>
                <a:tab algn="l" pos="3483000"/>
                <a:tab algn="l" pos="3932280"/>
                <a:tab algn="l" pos="4381560"/>
                <a:tab algn="l" pos="4830840"/>
                <a:tab algn="l" pos="5280120"/>
                <a:tab algn="l" pos="5729400"/>
                <a:tab algn="l" pos="6178680"/>
                <a:tab algn="l" pos="6627960"/>
                <a:tab algn="l" pos="7077240"/>
                <a:tab algn="l" pos="7526160"/>
                <a:tab algn="l" pos="7975440"/>
                <a:tab algn="l" pos="8424720"/>
                <a:tab algn="l" pos="8874000"/>
                <a:tab algn="l" pos="9323280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xxx</a:t>
            </a:r>
            <a:br>
              <a:rPr sz="1600"/>
            </a:b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275"/>
              </a:spcBef>
              <a:tabLst>
                <a:tab algn="l" pos="0"/>
              </a:tabLst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Box 1"/>
          <p:cNvSpPr/>
          <p:nvPr/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Cel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Box 2"/>
          <p:cNvSpPr/>
          <p:nvPr/>
        </p:nvSpPr>
        <p:spPr>
          <a:xfrm>
            <a:off x="685800" y="1981080"/>
            <a:ext cx="8029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Celem projektu jest zbudowanie xxx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Box 1"/>
          <p:cNvSpPr/>
          <p:nvPr/>
        </p:nvSpPr>
        <p:spPr>
          <a:xfrm>
            <a:off x="785880" y="428760"/>
            <a:ext cx="777204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Żądania Zamawiającego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Box 2"/>
          <p:cNvSpPr/>
          <p:nvPr/>
        </p:nvSpPr>
        <p:spPr>
          <a:xfrm>
            <a:off x="714240" y="1428840"/>
            <a:ext cx="7772040" cy="45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449280">
              <a:lnSpc>
                <a:spcPct val="93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3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STRQ1: xxx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93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Politechnika Warszawska xxx.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49280">
              <a:lnSpc>
                <a:spcPct val="93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3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STRQ 2: xxx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xxx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Box 1"/>
          <p:cNvSpPr/>
          <p:nvPr/>
        </p:nvSpPr>
        <p:spPr>
          <a:xfrm>
            <a:off x="642960" y="642960"/>
            <a:ext cx="7772040" cy="856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(FEAT)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7" name="Tabela 3"/>
          <p:cNvGraphicFramePr/>
          <p:nvPr/>
        </p:nvGraphicFramePr>
        <p:xfrm>
          <a:off x="357120" y="2114640"/>
          <a:ext cx="8429400" cy="1743480"/>
        </p:xfrm>
        <a:graphic>
          <a:graphicData uri="http://schemas.openxmlformats.org/drawingml/2006/table">
            <a:tbl>
              <a:tblPr/>
              <a:tblGrid>
                <a:gridCol w="1133640"/>
                <a:gridCol w="7295760"/>
              </a:tblGrid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FEAT1: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FEAT1.1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4784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840"/>
                          <a:tab algn="l" pos="6288120"/>
                          <a:tab algn="l" pos="6737400"/>
                          <a:tab algn="l" pos="7186680"/>
                          <a:tab algn="l" pos="7635960"/>
                          <a:tab algn="l" pos="8085240"/>
                          <a:tab algn="l" pos="8534520"/>
                          <a:tab algn="l" pos="8983800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Box 1"/>
          <p:cNvSpPr/>
          <p:nvPr/>
        </p:nvSpPr>
        <p:spPr>
          <a:xfrm>
            <a:off x="642960" y="642960"/>
            <a:ext cx="7772040" cy="856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funkcjonalne </a:t>
            </a: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(UC)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Tabela 3"/>
          <p:cNvGraphicFramePr/>
          <p:nvPr/>
        </p:nvGraphicFramePr>
        <p:xfrm>
          <a:off x="357120" y="2114640"/>
          <a:ext cx="8429400" cy="1743480"/>
        </p:xfrm>
        <a:graphic>
          <a:graphicData uri="http://schemas.openxmlformats.org/drawingml/2006/table">
            <a:tbl>
              <a:tblPr/>
              <a:tblGrid>
                <a:gridCol w="1133640"/>
                <a:gridCol w="7295760"/>
              </a:tblGrid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457200">
                <a:tc>
                  <a:txBody>
                    <a:bodyPr lIns="91080" rIns="910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447840"/>
                          <a:tab algn="l" pos="896760"/>
                          <a:tab algn="l" pos="1346040"/>
                          <a:tab algn="l" pos="1795320"/>
                          <a:tab algn="l" pos="2244600"/>
                          <a:tab algn="l" pos="2693880"/>
                          <a:tab algn="l" pos="3143160"/>
                          <a:tab algn="l" pos="3592440"/>
                          <a:tab algn="l" pos="4041720"/>
                          <a:tab algn="l" pos="4491000"/>
                          <a:tab algn="l" pos="4940280"/>
                          <a:tab algn="l" pos="5389560"/>
                          <a:tab algn="l" pos="5838840"/>
                          <a:tab algn="l" pos="6288120"/>
                          <a:tab algn="l" pos="6737400"/>
                          <a:tab algn="l" pos="7186680"/>
                          <a:tab algn="l" pos="7635960"/>
                          <a:tab algn="l" pos="8085240"/>
                          <a:tab algn="l" pos="8534520"/>
                          <a:tab algn="l" pos="8983800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Xxx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pl-PL" sz="12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Box 1"/>
          <p:cNvSpPr/>
          <p:nvPr/>
        </p:nvSpPr>
        <p:spPr>
          <a:xfrm>
            <a:off x="571680" y="428760"/>
            <a:ext cx="824688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Mapowanie żądań na wymagania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-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macierz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Box 1"/>
          <p:cNvSpPr/>
          <p:nvPr/>
        </p:nvSpPr>
        <p:spPr>
          <a:xfrm>
            <a:off x="500040" y="714240"/>
            <a:ext cx="791964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Mapowanie żądań na wymagania</a:t>
            </a:r>
            <a:r>
              <a:rPr lang="pl-PL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-</a:t>
            </a:r>
            <a:r>
              <a:rPr lang="pl-PL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drzewo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Box 1"/>
          <p:cNvSpPr/>
          <p:nvPr/>
        </p:nvSpPr>
        <p:spPr>
          <a:xfrm>
            <a:off x="685800" y="465120"/>
            <a:ext cx="777204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Times New Roman"/>
              </a:rPr>
              <a:t>Specyfikacja wymagań dodatkowych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Box 2"/>
          <p:cNvSpPr/>
          <p:nvPr/>
        </p:nvSpPr>
        <p:spPr>
          <a:xfrm>
            <a:off x="428760" y="2143080"/>
            <a:ext cx="814356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użyteczności i ergonomii: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wydajnościowe: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niezawodnościowe: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dotyczące skalowalności: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tabLst>
                <a:tab algn="l" pos="0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Box 1"/>
          <p:cNvSpPr/>
          <p:nvPr/>
        </p:nvSpPr>
        <p:spPr>
          <a:xfrm>
            <a:off x="642960" y="500040"/>
            <a:ext cx="7772040" cy="14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Szczegółowa specyfikacja wymagań na system:</a:t>
            </a: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xxx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Box 2"/>
          <p:cNvSpPr/>
          <p:nvPr/>
        </p:nvSpPr>
        <p:spPr>
          <a:xfrm>
            <a:off x="500040" y="2286000"/>
            <a:ext cx="814356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Nazwa projektu: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xxx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xxx</a:t>
            </a:r>
            <a:br>
              <a:rPr sz="2800"/>
            </a:b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143000" y="2286000"/>
            <a:ext cx="7772040" cy="1006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Model </a:t>
            </a:r>
            <a:r>
              <a:rPr lang="pl-PL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przypadków użycia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97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pl-PL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Administrowanie systemem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"/>
          <p:cNvPicPr/>
          <p:nvPr/>
        </p:nvPicPr>
        <p:blipFill>
          <a:blip r:embed="rId1"/>
          <a:stretch/>
        </p:blipFill>
        <p:spPr>
          <a:xfrm>
            <a:off x="1366560" y="1440000"/>
            <a:ext cx="5833440" cy="487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800" cy="143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rmAutofit/>
          </a:bodyPr>
          <a:p>
            <a:pPr indent="0">
              <a:lnSpc>
                <a:spcPct val="100000"/>
              </a:lnSpc>
              <a:buNone/>
            </a:pPr>
            <a:r>
              <a:rPr lang="pl-PL" sz="5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Specyfikacja aktorów</a:t>
            </a:r>
            <a:endParaRPr lang="en-GB" sz="50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42960" y="285840"/>
            <a:ext cx="7571880" cy="64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Diagram 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(głównych) przypadków użycia</a:t>
            </a:r>
            <a:endParaRPr lang="en-GB" sz="36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1" name=""/>
          <p:cNvPicPr/>
          <p:nvPr/>
        </p:nvPicPr>
        <p:blipFill>
          <a:blip r:embed="rId1"/>
          <a:stretch/>
        </p:blipFill>
        <p:spPr>
          <a:xfrm>
            <a:off x="1260000" y="1800000"/>
            <a:ext cx="6629040" cy="461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800" cy="53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 anchorCtr="1">
            <a:normAutofit fontScale="62500" lnSpcReduction="19999"/>
          </a:bodyPr>
          <a:p>
            <a:pPr indent="0" algn="ctr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główny dla przypadku użycia </a:t>
            </a:r>
            <a:br>
              <a:rPr sz="3200"/>
            </a:b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“Przetworzyć notatki odręczne do Markdown”</a:t>
            </a:r>
            <a:endParaRPr lang="en-GB" sz="32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ole tekstowe 4"/>
          <p:cNvSpPr/>
          <p:nvPr/>
        </p:nvSpPr>
        <p:spPr>
          <a:xfrm>
            <a:off x="428760" y="1456200"/>
            <a:ext cx="8429400" cy="23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spAutoFit/>
          </a:bodyPr>
          <a:p>
            <a:pPr marL="720000" defTabSz="4492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Użytkownik wysyła zdjęcie notatki odręcznej na dedykowany kanał Discord. 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NOTES AI odbiera załącznik i umieszcza zadanie w kolejce. 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System przesyła obraz do modelu AI.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Model rozpoznaje tekst oraz strukturę notatki (nagłówki, listy, tabele, pogrubienia).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System identyfikuje i parsuje bloki tagów technicznych ….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Model AI generuje semantyczny plik Markdown z zachowaniem logicznej struktury.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System automatycznie nadaje plikowi krótką nazwę na podstawie treści.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Gotowy plik .md jest zapisywany do folderu Obsidian Vault.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720000" defTabSz="44928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Times New Roman"/>
              <a:buAutoNum type="arabicParenR"/>
            </a:pPr>
            <a:r>
              <a: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System wysyła potwierdzenie sukcesu na Discord. 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449280">
              <a:lnSpc>
                <a:spcPct val="100000"/>
              </a:lnSpc>
            </a:pP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800" cy="53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rmAutofit fontScale="92500" lnSpcReduction="9999"/>
          </a:bodyPr>
          <a:p>
            <a:pPr indent="0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alternatywny dla przypadku użycia xxx</a:t>
            </a:r>
            <a:endParaRPr lang="en-GB" sz="32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pole tekstowe 4"/>
          <p:cNvSpPr/>
          <p:nvPr/>
        </p:nvSpPr>
        <p:spPr>
          <a:xfrm>
            <a:off x="428760" y="1179360"/>
            <a:ext cx="84294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49280">
              <a:lnSpc>
                <a:spcPct val="100000"/>
              </a:lnSpc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Sterować zachowanie AI przy pomocy tagów &lt;NOTE&gt;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</a:pP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857240" y="571680"/>
            <a:ext cx="585756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aktywności dla przypadku użycia „Przekształcić notatki odręczne do Markdown”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287" name=""/>
          <p:cNvPicPr/>
          <p:nvPr/>
        </p:nvPicPr>
        <p:blipFill>
          <a:blip r:embed="rId1"/>
          <a:stretch/>
        </p:blipFill>
        <p:spPr>
          <a:xfrm>
            <a:off x="1800000" y="1440000"/>
            <a:ext cx="5821200" cy="51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Box 1"/>
          <p:cNvSpPr/>
          <p:nvPr/>
        </p:nvSpPr>
        <p:spPr>
          <a:xfrm>
            <a:off x="642960" y="500040"/>
            <a:ext cx="7772040" cy="1431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Analiza 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xxx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Box 2"/>
          <p:cNvSpPr/>
          <p:nvPr/>
        </p:nvSpPr>
        <p:spPr>
          <a:xfrm>
            <a:off x="500040" y="2286000"/>
            <a:ext cx="814356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Nazwa projektu: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xxx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xxx</a:t>
            </a:r>
            <a:br>
              <a:rPr sz="2800"/>
            </a:b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Box 2"/>
          <p:cNvSpPr/>
          <p:nvPr/>
        </p:nvSpPr>
        <p:spPr>
          <a:xfrm>
            <a:off x="428760" y="1357200"/>
            <a:ext cx="36288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280">
              <a:lnSpc>
                <a:spcPct val="100000"/>
              </a:lnSpc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Realizacje usług systemu: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ectangle 5"/>
          <p:cNvSpPr/>
          <p:nvPr/>
        </p:nvSpPr>
        <p:spPr>
          <a:xfrm>
            <a:off x="1190520" y="2362320"/>
            <a:ext cx="9143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spAutoFit/>
          </a:bodyPr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714680" y="571680"/>
            <a:ext cx="585756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realizacji przypadków użycia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xxx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Definicje klas analitycznych (opis)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sekwencji dla realizacji przypadku użycia xxx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xxx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Box 1"/>
          <p:cNvSpPr/>
          <p:nvPr/>
        </p:nvSpPr>
        <p:spPr>
          <a:xfrm>
            <a:off x="642960" y="500040"/>
            <a:ext cx="7772040" cy="1431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49280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Projektowanie 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xxx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Box 2"/>
          <p:cNvSpPr/>
          <p:nvPr/>
        </p:nvSpPr>
        <p:spPr>
          <a:xfrm>
            <a:off x="500040" y="2286000"/>
            <a:ext cx="814356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Nazwa projektu: </a:t>
            </a: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xxx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xxx</a:t>
            </a:r>
            <a:br>
              <a:rPr sz="2800"/>
            </a:b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stanów do obiektu klasy xxx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pakietów: model warstw systemu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komponentów systemu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wdrożenia systemu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680" cy="502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4572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Kod systemu: jako wynik transformacji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Application>LibreOffice/25.8.4.2$Windows_X86_64 LibreOffice_project/290daaa01b999472f0c7a3890eb6a550fd74c6df</Application>
  <AppVersion>15.0000</AppVersion>
  <Words>274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astasiak</dc:creator>
  <dc:description/>
  <dc:language>pl-PL</dc:language>
  <cp:lastModifiedBy/>
  <cp:lastPrinted>1601-01-01T00:00:00Z</cp:lastPrinted>
  <dcterms:modified xsi:type="dcterms:W3CDTF">2026-04-01T01:46:50Z</dcterms:modified>
  <cp:revision>220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Pokaz na ekranie (4:3)</vt:lpwstr>
  </property>
  <property fmtid="{D5CDD505-2E9C-101B-9397-08002B2CF9AE}" pid="4" name="Slides">
    <vt:i4>30</vt:i4>
  </property>
</Properties>
</file>