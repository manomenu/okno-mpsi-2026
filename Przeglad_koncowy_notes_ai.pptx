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34.xml" ContentType="application/vnd.openxmlformats-officedocument.theme+xml"/>
  <Override PartName="/ppt/presentation.xml" ContentType="application/vnd.openxmlformats-officedocument.presentationml.presentation.main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4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47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9.xml" ContentType="application/vnd.openxmlformats-officedocument.presentationml.slide+xml"/>
  <Override PartName="/ppt/slides/slide14.xml" ContentType="application/vnd.openxmlformats-officedocument.presentationml.slide+xml"/>
  <Override PartName="/ppt/slides/slide48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14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46.xml" ContentType="application/vnd.openxmlformats-officedocument.presentationml.notesSlide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6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1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przesunąć slajd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l-PL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Kliknij, aby edytować format notatek</a:t>
            </a:r>
            <a:endParaRPr lang="pl-PL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&lt;główka&gt;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PlaceHolder 4"/>
          <p:cNvSpPr>
            <a:spLocks noGrp="1"/>
          </p:cNvSpPr>
          <p:nvPr>
            <p:ph type="dt" idx="5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&lt;data/godzina&gt;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PlaceHolder 5"/>
          <p:cNvSpPr>
            <a:spLocks noGrp="1"/>
          </p:cNvSpPr>
          <p:nvPr>
            <p:ph type="ftr" idx="5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6"/>
          <p:cNvSpPr>
            <a:spLocks noGrp="1"/>
          </p:cNvSpPr>
          <p:nvPr>
            <p:ph type="sldNum" idx="5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1CAB6BF0-B463-4BC4-AF81-4075E7119364}" type="slidenum"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&lt;numer&gt;</a:t>
            </a:fld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Text Box 1"/>
          <p:cNvSpPr/>
          <p:nvPr/>
        </p:nvSpPr>
        <p:spPr>
          <a:xfrm>
            <a:off x="2143080" y="695160"/>
            <a:ext cx="2571120" cy="3428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32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Text Box 1"/>
          <p:cNvSpPr/>
          <p:nvPr/>
        </p:nvSpPr>
        <p:spPr>
          <a:xfrm>
            <a:off x="2143080" y="695160"/>
            <a:ext cx="2571120" cy="3428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Text Box 1"/>
          <p:cNvSpPr/>
          <p:nvPr/>
        </p:nvSpPr>
        <p:spPr>
          <a:xfrm>
            <a:off x="2143080" y="695160"/>
            <a:ext cx="2571120" cy="3428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36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Text Box 1"/>
          <p:cNvSpPr/>
          <p:nvPr/>
        </p:nvSpPr>
        <p:spPr>
          <a:xfrm>
            <a:off x="2143080" y="695160"/>
            <a:ext cx="2571120" cy="3428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38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Text Box 1"/>
          <p:cNvSpPr/>
          <p:nvPr/>
        </p:nvSpPr>
        <p:spPr>
          <a:xfrm>
            <a:off x="2143080" y="695160"/>
            <a:ext cx="2571120" cy="3428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40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Text Box 1"/>
          <p:cNvSpPr/>
          <p:nvPr/>
        </p:nvSpPr>
        <p:spPr>
          <a:xfrm>
            <a:off x="2143080" y="695160"/>
            <a:ext cx="2571120" cy="3428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42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Text Box 1"/>
          <p:cNvSpPr/>
          <p:nvPr/>
        </p:nvSpPr>
        <p:spPr>
          <a:xfrm>
            <a:off x="2143080" y="695160"/>
            <a:ext cx="2571120" cy="3428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44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Text Box 1"/>
          <p:cNvSpPr/>
          <p:nvPr/>
        </p:nvSpPr>
        <p:spPr>
          <a:xfrm>
            <a:off x="1440" y="0"/>
            <a:ext cx="720" cy="7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43560" bIns="-4356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46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 Box 1"/>
          <p:cNvSpPr/>
          <p:nvPr/>
        </p:nvSpPr>
        <p:spPr>
          <a:xfrm>
            <a:off x="1440" y="0"/>
            <a:ext cx="720" cy="7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43560" bIns="-4356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48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Text Box 1"/>
          <p:cNvSpPr/>
          <p:nvPr/>
        </p:nvSpPr>
        <p:spPr>
          <a:xfrm>
            <a:off x="2143080" y="695160"/>
            <a:ext cx="2571120" cy="3428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50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Text Box 1"/>
          <p:cNvSpPr/>
          <p:nvPr/>
        </p:nvSpPr>
        <p:spPr>
          <a:xfrm>
            <a:off x="2143080" y="695160"/>
            <a:ext cx="2571120" cy="3428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  <a:ea typeface="+mn-ea"/>
            </a:endParaRPr>
          </a:p>
        </p:txBody>
      </p:sp>
      <p:sp>
        <p:nvSpPr>
          <p:cNvPr id="452" name="PlaceHolder 1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ctr">
            <a:noAutofit/>
          </a:bodyPr>
          <a:p>
            <a:pPr indent="0">
              <a:buNone/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jpe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3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ajd tytuł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3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grpSp>
        <p:nvGrpSpPr>
          <p:cNvPr id="4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5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33520" y="1371600"/>
            <a:ext cx="7850880" cy="1828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18360" tIns="0" bIns="0" anchor="b">
            <a:normAutofit/>
          </a:bodyPr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600" b="1" u="none" strike="noStrike">
                <a:solidFill>
                  <a:schemeClr val="accent3">
                    <a:tint val="90000"/>
                  </a:schemeClr>
                </a:solidFill>
                <a:effectLst/>
                <a:uFillTx/>
                <a:latin typeface="Calibri"/>
              </a:rPr>
              <a:t>Kliknij, aby edytować styl</a:t>
            </a:r>
            <a:endParaRPr lang="en-US" sz="5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2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3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4BB441A9-2654-4854-9795-39B59F590892}" type="slidenum">
              <a: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agłówek sekcji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12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grpSp>
        <p:nvGrpSpPr>
          <p:cNvPr id="13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4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30280" y="1316880"/>
            <a:ext cx="7771680" cy="13618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600" b="1" u="none" strike="noStrike">
                <a:solidFill>
                  <a:schemeClr val="accent4">
                    <a:tint val="90000"/>
                  </a:schemeClr>
                </a:solidFill>
                <a:effectLst/>
                <a:uFillTx/>
                <a:latin typeface="Calibri"/>
              </a:rPr>
              <a:t>Kliknij, aby edytować styl</a:t>
            </a:r>
            <a:endParaRPr lang="en-US" sz="5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530280" y="2704680"/>
            <a:ext cx="7771680" cy="1509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5720" rIns="45720" tIns="45720" bIns="45720" anchor="t">
            <a:noAutofit/>
          </a:bodyPr>
          <a:p>
            <a:pPr marL="228600" indent="0" defTabSz="914400">
              <a:lnSpc>
                <a:spcPct val="100000"/>
              </a:lnSpc>
              <a:spcBef>
                <a:spcPts val="439"/>
              </a:spcBef>
              <a:buNone/>
              <a:tabLst>
                <a:tab algn="l" pos="0"/>
              </a:tabLst>
            </a:pPr>
            <a:r>
              <a:rPr lang="pl-PL" sz="2200" b="0" u="none" strike="noStrike">
                <a:solidFill>
                  <a:schemeClr val="lt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lt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5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6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70BC2598-A86A-46E7-B1FA-2291E7800B17}" type="slidenum">
              <a:rPr lang="en-GB" sz="1200" b="0" u="none" strike="noStrike">
                <a:solidFill>
                  <a:srgbClr val="d1eaee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ytuł i tekst pion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2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3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4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5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7048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935000"/>
            <a:ext cx="8228880" cy="4388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 vert="eaVert">
            <a:noAutofit/>
          </a:bodyPr>
          <a:p>
            <a:pPr marL="272880" indent="-272880" defTabSz="91440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 defTabSz="91440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 defTabSz="914400">
              <a:lnSpc>
                <a:spcPct val="100000"/>
              </a:lnSpc>
              <a:spcBef>
                <a:spcPts val="42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 defTabSz="91440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 defTabSz="914400">
              <a:lnSpc>
                <a:spcPct val="100000"/>
              </a:lnSpc>
              <a:spcBef>
                <a:spcPts val="40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8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9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A4BE0025-8075-4B4F-9121-3710CA0D653F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awartość z podpisem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2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33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34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35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5800" y="514440"/>
            <a:ext cx="2742480" cy="116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6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85800" y="1676520"/>
            <a:ext cx="2742480" cy="4571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18360" rIns="18360" tIns="45720" bIns="45720" anchor="t">
            <a:noAutofit/>
          </a:bodyPr>
          <a:p>
            <a:pPr marL="228600"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3575160" y="1676520"/>
            <a:ext cx="5110920" cy="4571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0" bIns="45720" anchor="t">
            <a:noAutofit/>
          </a:bodyPr>
          <a:p>
            <a:pPr marL="272880" indent="-272880" defTabSz="914400">
              <a:lnSpc>
                <a:spcPct val="100000"/>
              </a:lnSpc>
              <a:spcBef>
                <a:spcPts val="561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 defTabSz="914400">
              <a:lnSpc>
                <a:spcPct val="100000"/>
              </a:lnSpc>
              <a:spcBef>
                <a:spcPts val="51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 defTabSz="914400">
              <a:lnSpc>
                <a:spcPct val="100000"/>
              </a:lnSpc>
              <a:spcBef>
                <a:spcPts val="479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 defTabSz="91440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 defTabSz="914400">
              <a:lnSpc>
                <a:spcPct val="100000"/>
              </a:lnSpc>
              <a:spcBef>
                <a:spcPts val="36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ftr" idx="11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sldNum" idx="12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0E9B5639-E21C-4BE7-9038-EA178AC1237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raz z podpisem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Dowolny kształt 6" hidden="1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43" name="Dowolny kształt 7" hidden="1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44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45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46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47" name="Prostokąt ze ściętym i zaokrąglonym rogiem 13"/>
          <p:cNvSpPr/>
          <p:nvPr/>
        </p:nvSpPr>
        <p:spPr>
          <a:xfrm flipV="1" rot="420000">
            <a:off x="3164760" y="1107720"/>
            <a:ext cx="5257080" cy="411408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cap="rnd" w="3175">
            <a:solidFill>
              <a:srgbClr val="c0c0c0"/>
            </a:solidFill>
            <a:round/>
          </a:ln>
          <a:effectLst>
            <a:outerShdw algn="tl" blurRad="63360" dir="7494149" dist="37750" kx="100000" rotWithShape="0" sx="98500" sy="10008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48" name="Trójkąt prostokątny 5"/>
          <p:cNvSpPr/>
          <p:nvPr/>
        </p:nvSpPr>
        <p:spPr>
          <a:xfrm flipV="1" rot="420000">
            <a:off x="8003520" y="5358240"/>
            <a:ext cx="154800" cy="154440"/>
          </a:xfrm>
          <a:prstGeom prst="rt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bevel/>
          </a:ln>
          <a:effectLst>
            <a:outerShdw algn="tl" blurRad="19800" dir="12881710" dist="5692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6840" bIns="6840" anchor="ctr">
            <a:noAutofit/>
          </a:bodyPr>
          <a:p>
            <a:pPr algn="ctr" defTabSz="449280">
              <a:lnSpc>
                <a:spcPct val="100000"/>
              </a:lnSpc>
            </a:pPr>
            <a:endParaRPr lang="en-US" sz="2400" b="0" u="none" strike="noStrike">
              <a:solidFill>
                <a:schemeClr val="lt1"/>
              </a:solidFill>
              <a:effectLst/>
              <a:uFillTx/>
              <a:latin typeface="Constantia"/>
            </a:endParaRPr>
          </a:p>
        </p:txBody>
      </p:sp>
      <p:sp>
        <p:nvSpPr>
          <p:cNvPr id="49" name="Dowolny kształt 6"/>
          <p:cNvSpPr/>
          <p:nvPr/>
        </p:nvSpPr>
        <p:spPr>
          <a:xfrm flipV="1">
            <a:off x="-8640" y="581508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-360 h 1040760"/>
              <a:gd name="textAreaBottom" fmla="*/ 104076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50" name="Dowolny kształt 7"/>
          <p:cNvSpPr/>
          <p:nvPr/>
        </p:nvSpPr>
        <p:spPr>
          <a:xfrm flipV="1">
            <a:off x="4381560" y="621900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-360 h 637560"/>
              <a:gd name="textAreaBottom" fmla="*/ 63756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1176840"/>
            <a:ext cx="2212200" cy="1581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5720" rIns="4572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0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09480" y="2828880"/>
            <a:ext cx="2208960" cy="21787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64080" rIns="45720" tIns="45720" bIns="45720" anchor="t">
            <a:noAutofit/>
          </a:bodyPr>
          <a:p>
            <a:pPr marL="228600" indent="0" defTabSz="914400">
              <a:lnSpc>
                <a:spcPct val="100000"/>
              </a:lnSpc>
              <a:spcBef>
                <a:spcPts val="249"/>
              </a:spcBef>
              <a:buNone/>
              <a:tabLst>
                <a:tab algn="l" pos="0"/>
              </a:tabLst>
            </a:pPr>
            <a:r>
              <a:rPr lang="pl-PL" sz="13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13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 rot="420000">
            <a:off x="3485160" y="1198800"/>
            <a:ext cx="4617000" cy="3931200"/>
          </a:xfrm>
          <a:prstGeom prst="rect">
            <a:avLst/>
          </a:prstGeom>
          <a:solidFill>
            <a:schemeClr val="lt2"/>
          </a:solidFill>
          <a:ln cap="rnd" w="2880">
            <a:solidFill>
              <a:srgbClr val="c0c0c0"/>
            </a:solidFill>
            <a:round/>
          </a:ln>
        </p:spPr>
        <p:txBody>
          <a:bodyPr lIns="90000" rIns="90000" tIns="45000" bIns="45000" anchor="t">
            <a:normAutofit/>
          </a:bodyPr>
          <a:p>
            <a:pPr marL="228600" indent="0" defTabSz="44928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pl-PL" sz="32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Kliknij ikonę, aby dodać obraz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14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15"/>
          </p:nvPr>
        </p:nvSpPr>
        <p:spPr>
          <a:xfrm>
            <a:off x="8077320" y="6356520"/>
            <a:ext cx="60876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B23BF8C0-C8EF-4E36-9D6A-E96C50891998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ytuł pionowy i teks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58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59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60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61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629400" y="914400"/>
            <a:ext cx="2056680" cy="5211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 vert="eaVer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457200" y="914400"/>
            <a:ext cx="6019200" cy="5211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 vert="eaVert">
            <a:noAutofit/>
          </a:bodyPr>
          <a:p>
            <a:pPr marL="272880" indent="-272880" defTabSz="91440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 defTabSz="91440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 defTabSz="914400">
              <a:lnSpc>
                <a:spcPct val="100000"/>
              </a:lnSpc>
              <a:spcBef>
                <a:spcPts val="42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 defTabSz="91440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 defTabSz="914400">
              <a:lnSpc>
                <a:spcPct val="100000"/>
              </a:lnSpc>
              <a:spcBef>
                <a:spcPts val="40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ftr" idx="17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sldNum" idx="18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7A8B16CD-57F3-41B2-867A-47135F24E484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68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69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70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1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ldNum" idx="19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58A95E57-55F1-41B3-B992-BFCD4E5CC642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omyśln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76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77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78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79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sldNum" idx="20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B7A350E0-15DE-44F2-92A9-E4F6C1C7EE91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ytuł i zawartość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4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85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86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87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7048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935000"/>
            <a:ext cx="8228880" cy="4388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72880" indent="-272880" defTabSz="91440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 defTabSz="91440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 defTabSz="914400">
              <a:lnSpc>
                <a:spcPct val="100000"/>
              </a:lnSpc>
              <a:spcBef>
                <a:spcPts val="42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 defTabSz="914400">
              <a:lnSpc>
                <a:spcPct val="100000"/>
              </a:lnSpc>
              <a:spcBef>
                <a:spcPts val="40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 defTabSz="914400">
              <a:lnSpc>
                <a:spcPct val="100000"/>
              </a:lnSpc>
              <a:spcBef>
                <a:spcPts val="40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ftr" idx="22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sldNum" idx="23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B752D59C-4826-4A3A-9ACD-1D1321CC8982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wa elementy zawartości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94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95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96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97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70416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457200" y="1920240"/>
            <a:ext cx="4037760" cy="443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72880" indent="-272880" defTabSz="91440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 defTabSz="91440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 defTabSz="914400">
              <a:lnSpc>
                <a:spcPct val="100000"/>
              </a:lnSpc>
              <a:spcBef>
                <a:spcPts val="40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 defTabSz="914400">
              <a:lnSpc>
                <a:spcPct val="100000"/>
              </a:lnSpc>
              <a:spcBef>
                <a:spcPts val="36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 defTabSz="914400">
              <a:lnSpc>
                <a:spcPct val="100000"/>
              </a:lnSpc>
              <a:spcBef>
                <a:spcPts val="36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648320" y="1920240"/>
            <a:ext cx="4037760" cy="443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72880" indent="-272880" defTabSz="914400">
              <a:lnSpc>
                <a:spcPct val="100000"/>
              </a:lnSpc>
              <a:spcBef>
                <a:spcPts val="51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 defTabSz="914400">
              <a:lnSpc>
                <a:spcPct val="100000"/>
              </a:lnSpc>
              <a:spcBef>
                <a:spcPts val="479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 defTabSz="914400">
              <a:lnSpc>
                <a:spcPct val="100000"/>
              </a:lnSpc>
              <a:spcBef>
                <a:spcPts val="40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 defTabSz="914400">
              <a:lnSpc>
                <a:spcPct val="100000"/>
              </a:lnSpc>
              <a:spcBef>
                <a:spcPts val="36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 defTabSz="914400">
              <a:lnSpc>
                <a:spcPct val="100000"/>
              </a:lnSpc>
              <a:spcBef>
                <a:spcPts val="36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5"/>
          <p:cNvSpPr>
            <a:spLocks noGrp="1"/>
          </p:cNvSpPr>
          <p:nvPr>
            <p:ph type="ftr" idx="25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6"/>
          <p:cNvSpPr>
            <a:spLocks noGrp="1"/>
          </p:cNvSpPr>
          <p:nvPr>
            <p:ph type="sldNum" idx="26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0D40C407-5730-42B2-9403-18D0D31BD08E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ównani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05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06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07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08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70416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457200" y="1855080"/>
            <a:ext cx="4039560" cy="6588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5720" rIns="45720" tIns="0" bIns="0" anchor="ctr">
            <a:noAutofit/>
          </a:bodyPr>
          <a:p>
            <a:pPr marL="228600"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pl-PL" sz="2400" b="1" u="none" strike="noStrike">
                <a:solidFill>
                  <a:schemeClr val="dk2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4645080" y="1859760"/>
            <a:ext cx="4041000" cy="6541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45720" rIns="45720" tIns="0" bIns="0" anchor="ctr">
            <a:noAutofit/>
          </a:bodyPr>
          <a:p>
            <a:pPr marL="228600"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pl-PL" sz="2400" b="1" u="none" strike="noStrike">
                <a:solidFill>
                  <a:schemeClr val="dk2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body"/>
          </p:nvPr>
        </p:nvSpPr>
        <p:spPr>
          <a:xfrm>
            <a:off x="457200" y="2514600"/>
            <a:ext cx="4039560" cy="384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0" bIns="45720" anchor="t">
            <a:noAutofit/>
          </a:bodyPr>
          <a:p>
            <a:pPr marL="272880" indent="-272880" defTabSz="914400">
              <a:lnSpc>
                <a:spcPct val="100000"/>
              </a:lnSpc>
              <a:spcBef>
                <a:spcPts val="43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2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 defTabSz="914400">
              <a:lnSpc>
                <a:spcPct val="100000"/>
              </a:lnSpc>
              <a:spcBef>
                <a:spcPts val="400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 defTabSz="914400">
              <a:lnSpc>
                <a:spcPct val="100000"/>
              </a:lnSpc>
              <a:spcBef>
                <a:spcPts val="36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 defTabSz="914400">
              <a:lnSpc>
                <a:spcPct val="100000"/>
              </a:lnSpc>
              <a:spcBef>
                <a:spcPts val="32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 defTabSz="914400">
              <a:lnSpc>
                <a:spcPct val="100000"/>
              </a:lnSpc>
              <a:spcBef>
                <a:spcPts val="32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body"/>
          </p:nvPr>
        </p:nvSpPr>
        <p:spPr>
          <a:xfrm>
            <a:off x="4645080" y="2514600"/>
            <a:ext cx="4041000" cy="384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0" bIns="45720" anchor="t">
            <a:noAutofit/>
          </a:bodyPr>
          <a:p>
            <a:pPr marL="272880" indent="-272880" defTabSz="914400">
              <a:lnSpc>
                <a:spcPct val="100000"/>
              </a:lnSpc>
              <a:spcBef>
                <a:spcPts val="439"/>
              </a:spcBef>
              <a:buClr>
                <a:srgbClr val="0bd0d9"/>
              </a:buClr>
              <a:buSzPct val="95000"/>
              <a:buFont typeface="Wingdings 2" charset="2"/>
              <a:buChar char=""/>
            </a:pPr>
            <a:r>
              <a:rPr lang="pl-PL" sz="22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style wzorca tekstu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639720" lvl="1" indent="-246240" defTabSz="914400">
              <a:lnSpc>
                <a:spcPct val="100000"/>
              </a:lnSpc>
              <a:spcBef>
                <a:spcPts val="400"/>
              </a:spcBef>
              <a:buClr>
                <a:srgbClr val="0f6fc6"/>
              </a:buClr>
              <a:buSzPct val="85000"/>
              <a:buFont typeface="Wingdings 2" charset="2"/>
              <a:buChar char=""/>
            </a:pPr>
            <a:r>
              <a:rPr lang="pl-PL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914400" lvl="2" indent="-246240" defTabSz="914400">
              <a:lnSpc>
                <a:spcPct val="100000"/>
              </a:lnSpc>
              <a:spcBef>
                <a:spcPts val="360"/>
              </a:spcBef>
              <a:buClr>
                <a:srgbClr val="009dd9"/>
              </a:buClr>
              <a:buSzPct val="70000"/>
              <a:buFont typeface="Wingdings 2" charset="2"/>
              <a:buChar char=""/>
            </a:pPr>
            <a:r>
              <a:rPr lang="pl-PL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187280" lvl="3" indent="-209520" defTabSz="914400">
              <a:lnSpc>
                <a:spcPct val="100000"/>
              </a:lnSpc>
              <a:spcBef>
                <a:spcPts val="320"/>
              </a:spcBef>
              <a:buClr>
                <a:srgbClr val="0bd0d9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461960" lvl="4" indent="-209520" defTabSz="914400">
              <a:lnSpc>
                <a:spcPct val="100000"/>
              </a:lnSpc>
              <a:spcBef>
                <a:spcPts val="320"/>
              </a:spcBef>
              <a:buClr>
                <a:srgbClr val="10cf9b"/>
              </a:buClr>
              <a:buSzPct val="65000"/>
              <a:buFont typeface="Wingdings 2" charset="2"/>
              <a:buChar char=""/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4" name="PlaceHolder 6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7"/>
          <p:cNvSpPr>
            <a:spLocks noGrp="1"/>
          </p:cNvSpPr>
          <p:nvPr>
            <p:ph type="ftr" idx="28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8"/>
          <p:cNvSpPr>
            <a:spLocks noGrp="1"/>
          </p:cNvSpPr>
          <p:nvPr>
            <p:ph type="sldNum" idx="29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355BBA4E-BD73-425B-9E23-552D28DEAF1D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ylko tytuł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18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19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20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21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457200" y="704160"/>
            <a:ext cx="8305200" cy="114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ftr" idx="31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sldNum" idx="32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9531EECA-08CE-416B-9C19-7E8E5F4187F2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ust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27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28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29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30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44928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31" name="PlaceHolder 1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defTabSz="44928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defTabSz="44928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2">
                    <a:shade val="90000"/>
                  </a:schemeClr>
                </a:solidFill>
                <a:effectLst/>
                <a:uFillTx/>
                <a:latin typeface="Times New Roman"/>
              </a:rPr>
              <a:t>&lt;data/godzina&gt;</a:t>
            </a:r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ftr" idx="34"/>
          </p:nvPr>
        </p:nvSpPr>
        <p:spPr>
          <a:xfrm>
            <a:off x="2666880" y="6356520"/>
            <a:ext cx="3351960" cy="36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&lt;stopka&gt;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35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E3B5EBFF-8F48-417F-9251-68A07785E64B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88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rPr>
              <a:t>Kliknij, aby edytować format tekstu tytułu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37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38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39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0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Num" idx="36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15B7A932-BA71-4906-99DF-5B240F64B8C1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5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45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46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47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48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Num" idx="37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2E31473C-421D-4F05-8208-FA89617FF023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6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53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54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55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56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sldNum" idx="38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852D57F5-EC4F-4234-AB48-B94851C492C7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myślny 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61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62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63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64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9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18E24B7F-7CAE-4E37-B627-F49BE5B95AB0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7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69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70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71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72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40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57CB9E06-8695-43E4-B7FD-0544271ACDEF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myślny 2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77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78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79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80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sldNum" idx="41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A2075659-526E-4EAD-AA58-278F16EA78CD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8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85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86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87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88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sldNum" idx="42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EE4CE344-7C70-4A05-BF8E-958B5533ABE6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myślny 3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93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194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195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196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ldNum" idx="43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23D66CC6-F9FA-403F-9409-0B4B69DBFAB4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9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01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02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03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04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44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3C6C1610-C61E-47DB-BE9D-ECA6B8AB4972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myślny 4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09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10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11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12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45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BBFBEA31-2EB6-4BEE-8992-23F2090B074D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0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17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18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19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20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sldNum" idx="46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085CD241-5CC8-4D49-8DA8-4D5A12EB902E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myślny 5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25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26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27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28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sldNum" idx="47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B1B045C4-1056-4E50-8EE5-6EF5396D6497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myślny 6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33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34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35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36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sldNum" idx="48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D537156E-260C-4B12-8BA4-A59CA76B705C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2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41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42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43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44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49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6C771F83-F97F-4781-9DE9-5DE46DC3496A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myślny 7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49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50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51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52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 type="sldNum" idx="50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5F4D575F-77BD-4CD7-ACF2-2AEA4EDEB81D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3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57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58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59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60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sldNum" idx="51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6B24C711-2523-4BE8-A39C-D6C1C5ECA7EC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myślny 8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65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66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67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68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 type="sldNum" idx="52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F8E27D16-10F3-422C-B3DC-3091D0D6BAD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4_Układ niestandardow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73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74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75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76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sldNum" idx="53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64CC82B8-6EAA-4A83-B28D-D7CB5E817CD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omyślny 9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81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82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83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84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ldNum" idx="54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B4D753F7-628B-4670-9421-1D98B57A19A5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omyślny 10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Dowolny kształt 6"/>
          <p:cNvSpPr/>
          <p:nvPr/>
        </p:nvSpPr>
        <p:spPr>
          <a:xfrm>
            <a:off x="-9360" y="-7920"/>
            <a:ext cx="9162360" cy="1040760"/>
          </a:xfrm>
          <a:custGeom>
            <a:avLst/>
            <a:gdLst>
              <a:gd name="textAreaLeft" fmla="*/ 0 w 9162360"/>
              <a:gd name="textAreaRight" fmla="*/ 9162720 w 9162360"/>
              <a:gd name="textAreaTop" fmla="*/ 0 h 1040760"/>
              <a:gd name="textAreaBottom" fmla="*/ 1041120 h 1040760"/>
              <a:gd name="GluePoint1X" fmla="*/ 6 w 0"/>
              <a:gd name="GluePoint1Y" fmla="*/ 2 h 0"/>
              <a:gd name="GluePoint2X" fmla="*/ 2542 w 0"/>
              <a:gd name="GluePoint2Y" fmla="*/ 0 h 0"/>
              <a:gd name="GluePoint3X" fmla="*/ 4374 w 0"/>
              <a:gd name="GluePoint3Y" fmla="*/ 367 h 0"/>
              <a:gd name="GluePoint4X" fmla="*/ 5766 w 0"/>
              <a:gd name="GluePoint4Y" fmla="*/ 55 h 0"/>
              <a:gd name="GluePoint5X" fmla="*/ 5772 w 0"/>
              <a:gd name="GluePoint5Y" fmla="*/ 213 h 0"/>
              <a:gd name="GluePoint6X" fmla="*/ 4302 w 0"/>
              <a:gd name="GluePoint6Y" fmla="*/ 439 h 0"/>
              <a:gd name="GluePoint7X" fmla="*/ 1488 w 0"/>
              <a:gd name="GluePoint7Y" fmla="*/ 201 h 0"/>
              <a:gd name="GluePoint8X" fmla="*/ 0 w 0"/>
              <a:gd name="GluePoint8Y" fmla="*/ 656 h 0"/>
              <a:gd name="GluePoint9X" fmla="*/ 6 w 0"/>
              <a:gd name="GluePoint9Y" fmla="*/ 2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 rotWithShape="0">
            <a:gsLst>
              <a:gs pos="0">
                <a:srgbClr val="0074a0">
                  <a:alpha val="45000"/>
                </a:srgbClr>
              </a:gs>
              <a:gs pos="100000">
                <a:srgbClr val="00c4cd">
                  <a:alpha val="5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89" name="Dowolny kształt 7"/>
          <p:cNvSpPr/>
          <p:nvPr/>
        </p:nvSpPr>
        <p:spPr>
          <a:xfrm>
            <a:off x="4381560" y="-7920"/>
            <a:ext cx="4761720" cy="637560"/>
          </a:xfrm>
          <a:custGeom>
            <a:avLst/>
            <a:gdLst>
              <a:gd name="textAreaLeft" fmla="*/ 0 w 4761720"/>
              <a:gd name="textAreaRight" fmla="*/ 4762080 w 4761720"/>
              <a:gd name="textAreaTop" fmla="*/ 0 h 637560"/>
              <a:gd name="textAreaBottom" fmla="*/ 637920 h 637560"/>
              <a:gd name="GluePoint1X" fmla="*/ 0 w 0"/>
              <a:gd name="GluePoint1Y" fmla="*/ 0 h 0"/>
              <a:gd name="GluePoint2X" fmla="*/ 1668 w 0"/>
              <a:gd name="GluePoint2Y" fmla="*/ 564 h 0"/>
              <a:gd name="GluePoint3X" fmla="*/ 3000 w 0"/>
              <a:gd name="GluePoint3Y" fmla="*/ 186 h 0"/>
              <a:gd name="GluePoint4X" fmla="*/ 3000 w 0"/>
              <a:gd name="GluePoint4Y" fmla="*/ 6 h 0"/>
              <a:gd name="GluePoint5X" fmla="*/ 0 w 0"/>
              <a:gd name="GluePoint5Y" fmla="*/ 0 h 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00a0a8">
                  <a:alpha val="30000"/>
                </a:srgbClr>
              </a:gs>
              <a:gs pos="80000">
                <a:srgbClr val="008abf">
                  <a:alpha val="45000"/>
                </a:srgbClr>
              </a:gs>
            </a:gsLst>
            <a:lin ang="5400000"/>
          </a:gra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grpSp>
        <p:nvGrpSpPr>
          <p:cNvPr id="290" name="Grupa 1"/>
          <p:cNvGrpSpPr/>
          <p:nvPr/>
        </p:nvGrpSpPr>
        <p:grpSpPr>
          <a:xfrm>
            <a:off x="-28800" y="-15840"/>
            <a:ext cx="9196920" cy="1084320"/>
            <a:chOff x="-28800" y="-15840"/>
            <a:chExt cx="9196920" cy="1084320"/>
          </a:xfrm>
        </p:grpSpPr>
        <p:sp>
          <p:nvSpPr>
            <p:cNvPr id="291" name="Dowolny kształt 11"/>
            <p:cNvSpPr/>
            <p:nvPr/>
          </p:nvSpPr>
          <p:spPr>
            <a:xfrm rot="21435600">
              <a:off x="-18360" y="202680"/>
              <a:ext cx="9162360" cy="646920"/>
            </a:xfrm>
            <a:custGeom>
              <a:avLst/>
              <a:gdLst>
                <a:gd name="textAreaLeft" fmla="*/ 0 w 9162360"/>
                <a:gd name="textAreaRight" fmla="*/ 9162720 w 9162360"/>
                <a:gd name="textAreaTop" fmla="*/ 0 h 646920"/>
                <a:gd name="textAreaBottom" fmla="*/ 647280 h 646920"/>
                <a:gd name="GluePoint1X" fmla="*/ 0 w 0"/>
                <a:gd name="GluePoint1Y" fmla="*/ 966 h 0"/>
                <a:gd name="GluePoint2X" fmla="*/ 1608 w 0"/>
                <a:gd name="GluePoint2Y" fmla="*/ 282 h 0"/>
                <a:gd name="GluePoint3X" fmla="*/ 4110 w 0"/>
                <a:gd name="GluePoint3Y" fmla="*/ 1008 h 0"/>
                <a:gd name="GluePoint4X" fmla="*/ 5772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>
              <a:solidFill>
                <a:srgbClr val="09b7b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  <p:sp>
          <p:nvSpPr>
            <p:cNvPr id="292" name="Dowolny kształt 12"/>
            <p:cNvSpPr/>
            <p:nvPr/>
          </p:nvSpPr>
          <p:spPr>
            <a:xfrm rot="21435600">
              <a:off x="-14040" y="275760"/>
              <a:ext cx="9174960" cy="528480"/>
            </a:xfrm>
            <a:custGeom>
              <a:avLst/>
              <a:gdLst>
                <a:gd name="textAreaLeft" fmla="*/ 0 w 9174960"/>
                <a:gd name="textAreaRight" fmla="*/ 9175320 w 9174960"/>
                <a:gd name="textAreaTop" fmla="*/ 0 h 528480"/>
                <a:gd name="textAreaBottom" fmla="*/ 528840 h 528480"/>
                <a:gd name="GluePoint1X" fmla="*/ 0 w 0"/>
                <a:gd name="GluePoint1Y" fmla="*/ 732 h 0"/>
                <a:gd name="GluePoint2X" fmla="*/ 1638 w 0"/>
                <a:gd name="GluePoint2Y" fmla="*/ 228 h 0"/>
                <a:gd name="GluePoint3X" fmla="*/ 4122 w 0"/>
                <a:gd name="GluePoint3Y" fmla="*/ 816 h 0"/>
                <a:gd name="GluePoint4X" fmla="*/ 5766 w 0"/>
                <a:gd name="GluePoint4Y" fmla="*/ 0 h 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>
              <a:solidFill>
                <a:srgbClr val="0f6fc6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lang="en-US" sz="2400" b="0" u="none" strike="noStrike">
                <a:solidFill>
                  <a:schemeClr val="lt1"/>
                </a:solidFill>
                <a:effectLst/>
                <a:uFillTx/>
                <a:latin typeface="Times New Roman"/>
              </a:endParaRPr>
            </a:p>
          </p:txBody>
        </p:sp>
      </p:grpSp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Kliknij, aby edytować styl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 type="sldNum" idx="55"/>
          </p:nvPr>
        </p:nvSpPr>
        <p:spPr>
          <a:xfrm>
            <a:off x="7924680" y="6356520"/>
            <a:ext cx="761400" cy="364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 defTabSz="449280">
              <a:lnSpc>
                <a:spcPct val="100000"/>
              </a:lnSpc>
              <a:buNone/>
              <a:tabLst>
                <a:tab algn="l" pos="0"/>
              </a:tabLst>
              <a:def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defRPr>
            </a:lvl1pPr>
          </a:lstStyle>
          <a:p>
            <a:pPr indent="0" algn="r" defTabSz="449280">
              <a:lnSpc>
                <a:spcPct val="100000"/>
              </a:lnSpc>
              <a:buNone/>
              <a:tabLst>
                <a:tab algn="l" pos="0"/>
              </a:tabLst>
            </a:pPr>
            <a:fld id="{FB46B389-44CC-4062-BF34-90303049661B}" type="slidenum">
              <a:rPr lang="en-GB" sz="1200" b="0" u="none" strike="noStrike">
                <a:solidFill>
                  <a:srgbClr val="045c75"/>
                </a:solidFill>
                <a:effectLst/>
                <a:uFillTx/>
                <a:latin typeface="Times New Roman"/>
              </a:rPr>
              <a:t>&lt;numer&gt;</a:t>
            </a:fld>
            <a:endParaRPr lang="pl-PL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Kliknij, aby edytować format tekstu konspektu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864000" lvl="1" indent="-324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1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Drugi poziom konspektu</a:t>
            </a:r>
            <a:endParaRPr lang="en-US" sz="21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296000" lvl="2" indent="-288000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Trzeci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1728000" lvl="3" indent="-216000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Czwarty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160000" lvl="4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Piąty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2592000" lvl="5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Szósty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  <a:p>
            <a:pPr marL="3024000" lvl="6" indent="-216000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Siódmy poziom konspektu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1.xml"/><Relationship Id="rId20" Type="http://schemas.openxmlformats.org/officeDocument/2006/relationships/slideLayout" Target="../slideLayouts/slideLayout32.xml"/><Relationship Id="rId21" Type="http://schemas.openxmlformats.org/officeDocument/2006/relationships/slideLayout" Target="../slideLayouts/slideLayout3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  <p:sldLayoutId id="2147483682" r:id="rId20"/>
    <p:sldLayoutId id="2147483683" r:id="rId21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7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7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7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7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7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7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7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7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7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7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7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7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7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7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7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slideLayout" Target="../slideLayouts/slideLayout7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42.png"/><Relationship Id="rId3" Type="http://schemas.openxmlformats.org/officeDocument/2006/relationships/slideLayout" Target="../slideLayouts/slideLayout7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slideLayout" Target="../slideLayouts/slideLayout7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slideLayout" Target="../slideLayouts/slideLayout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image" Target="../media/image48.png"/><Relationship Id="rId3" Type="http://schemas.openxmlformats.org/officeDocument/2006/relationships/slideLayout" Target="../slideLayouts/slideLayout7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7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slideLayout" Target="../slideLayouts/slideLayout7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 Box 1"/>
          <p:cNvSpPr/>
          <p:nvPr/>
        </p:nvSpPr>
        <p:spPr>
          <a:xfrm>
            <a:off x="642960" y="928800"/>
            <a:ext cx="77716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Końcowy p</a:t>
            </a:r>
            <a:r>
              <a:rPr lang="en-GB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rzegląd projektu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Box 2"/>
          <p:cNvSpPr/>
          <p:nvPr/>
        </p:nvSpPr>
        <p:spPr>
          <a:xfrm>
            <a:off x="571680" y="2428920"/>
            <a:ext cx="814320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Nazwa projektu: NOTES  AI</a:t>
            </a: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.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Zespół wykonawcy w składzie: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1. 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Piotr Gugnowski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2. Adam Dąbkowski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3. Adrian Cieśla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Box 1"/>
          <p:cNvSpPr/>
          <p:nvPr/>
        </p:nvSpPr>
        <p:spPr>
          <a:xfrm>
            <a:off x="685800" y="609480"/>
            <a:ext cx="77716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8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Krótka charakterystyka organizacji zamawiającego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Box 2"/>
          <p:cNvSpPr/>
          <p:nvPr/>
        </p:nvSpPr>
        <p:spPr>
          <a:xfrm>
            <a:off x="642960" y="1571760"/>
            <a:ext cx="7771680" cy="429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algn="l" pos="339840"/>
                <a:tab algn="l" pos="787320"/>
                <a:tab algn="l" pos="1236600"/>
                <a:tab algn="l" pos="1685880"/>
                <a:tab algn="l" pos="2135160"/>
                <a:tab algn="l" pos="2584440"/>
                <a:tab algn="l" pos="3033720"/>
                <a:tab algn="l" pos="3483000"/>
                <a:tab algn="l" pos="3932280"/>
                <a:tab algn="l" pos="4381560"/>
                <a:tab algn="l" pos="4830840"/>
                <a:tab algn="l" pos="5280120"/>
                <a:tab algn="l" pos="5729400"/>
                <a:tab algn="l" pos="6178680"/>
                <a:tab algn="l" pos="6627960"/>
                <a:tab algn="l" pos="7077240"/>
                <a:tab algn="l" pos="7526160"/>
                <a:tab algn="l" pos="7975440"/>
                <a:tab algn="l" pos="8424720"/>
                <a:tab algn="l" pos="8874000"/>
                <a:tab algn="l" pos="9323280"/>
              </a:tabLst>
            </a:pPr>
            <a:r>
              <a:rPr lang="pl-PL" sz="16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Rozproszona grupa użytkowników zrzeszona serwerem discord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algn="l" pos="339840"/>
                <a:tab algn="l" pos="787320"/>
                <a:tab algn="l" pos="1236600"/>
                <a:tab algn="l" pos="1685880"/>
                <a:tab algn="l" pos="2135160"/>
                <a:tab algn="l" pos="2584440"/>
                <a:tab algn="l" pos="3033720"/>
                <a:tab algn="l" pos="3483000"/>
                <a:tab algn="l" pos="3932280"/>
                <a:tab algn="l" pos="4381560"/>
                <a:tab algn="l" pos="4830840"/>
                <a:tab algn="l" pos="5280120"/>
                <a:tab algn="l" pos="5729400"/>
                <a:tab algn="l" pos="6178680"/>
                <a:tab algn="l" pos="6627960"/>
                <a:tab algn="l" pos="7077240"/>
                <a:tab algn="l" pos="7526160"/>
                <a:tab algn="l" pos="7975440"/>
                <a:tab algn="l" pos="8424720"/>
                <a:tab algn="l" pos="8874000"/>
                <a:tab algn="l" pos="9323280"/>
              </a:tabLst>
            </a:pPr>
            <a:r>
              <a:rPr lang="pl-PL" sz="16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Większość członków tylko doraźnie zainteresowna rozwojem systemów dla grupy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algn="l" pos="339840"/>
                <a:tab algn="l" pos="787320"/>
                <a:tab algn="l" pos="1236600"/>
                <a:tab algn="l" pos="1685880"/>
                <a:tab algn="l" pos="2135160"/>
                <a:tab algn="l" pos="2584440"/>
                <a:tab algn="l" pos="3033720"/>
                <a:tab algn="l" pos="3483000"/>
                <a:tab algn="l" pos="3932280"/>
                <a:tab algn="l" pos="4381560"/>
                <a:tab algn="l" pos="4830840"/>
                <a:tab algn="l" pos="5280120"/>
                <a:tab algn="l" pos="5729400"/>
                <a:tab algn="l" pos="6178680"/>
                <a:tab algn="l" pos="6627960"/>
                <a:tab algn="l" pos="7077240"/>
                <a:tab algn="l" pos="7526160"/>
                <a:tab algn="l" pos="7975440"/>
                <a:tab algn="l" pos="8424720"/>
                <a:tab algn="l" pos="8874000"/>
                <a:tab algn="l" pos="9323280"/>
              </a:tabLst>
            </a:pPr>
            <a:r>
              <a:rPr lang="pl-PL" sz="16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Głównymi interesariuszami są administratorzy grupy discrod dbający o jakość doświadczenia członków serwera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algn="l" pos="339840"/>
                <a:tab algn="l" pos="787320"/>
                <a:tab algn="l" pos="1236600"/>
                <a:tab algn="l" pos="1685880"/>
                <a:tab algn="l" pos="2135160"/>
                <a:tab algn="l" pos="2584440"/>
                <a:tab algn="l" pos="3033720"/>
                <a:tab algn="l" pos="3483000"/>
                <a:tab algn="l" pos="3932280"/>
                <a:tab algn="l" pos="4381560"/>
                <a:tab algn="l" pos="4830840"/>
                <a:tab algn="l" pos="5280120"/>
                <a:tab algn="l" pos="5729400"/>
                <a:tab algn="l" pos="6178680"/>
                <a:tab algn="l" pos="6627960"/>
                <a:tab algn="l" pos="7077240"/>
                <a:tab algn="l" pos="7526160"/>
                <a:tab algn="l" pos="7975440"/>
                <a:tab algn="l" pos="8424720"/>
                <a:tab algn="l" pos="8874000"/>
                <a:tab algn="l" pos="9323280"/>
              </a:tabLst>
            </a:pPr>
            <a:r>
              <a:rPr lang="pl-PL" sz="16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Brak sztywnych wymagań co do terminu realizacji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9840" indent="-339840" defTabSz="44928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Times New Roman"/>
              <a:buChar char="•"/>
              <a:tabLst>
                <a:tab algn="l" pos="339840"/>
                <a:tab algn="l" pos="787320"/>
                <a:tab algn="l" pos="1236600"/>
                <a:tab algn="l" pos="1685880"/>
                <a:tab algn="l" pos="2135160"/>
                <a:tab algn="l" pos="2584440"/>
                <a:tab algn="l" pos="3033720"/>
                <a:tab algn="l" pos="3483000"/>
                <a:tab algn="l" pos="3932280"/>
                <a:tab algn="l" pos="4381560"/>
                <a:tab algn="l" pos="4830840"/>
                <a:tab algn="l" pos="5280120"/>
                <a:tab algn="l" pos="5729400"/>
                <a:tab algn="l" pos="6178680"/>
                <a:tab algn="l" pos="6627960"/>
                <a:tab algn="l" pos="7077240"/>
                <a:tab algn="l" pos="7526160"/>
                <a:tab algn="l" pos="7975440"/>
                <a:tab algn="l" pos="8424720"/>
                <a:tab algn="l" pos="8874000"/>
                <a:tab algn="l" pos="9323280"/>
              </a:tabLst>
            </a:pPr>
            <a:r>
              <a:rPr lang="pl-PL" sz="16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Zainteresowani chcą usprawnić proces fizycznego notowania i połączyć je z prostą digitalizacją notatek</a:t>
            </a:r>
            <a:br>
              <a:rPr sz="1600"/>
            </a:br>
            <a:r>
              <a:rPr lang="pl-PL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39840" indent="-339840" defTabSz="449280">
              <a:lnSpc>
                <a:spcPct val="100000"/>
              </a:lnSpc>
              <a:spcBef>
                <a:spcPts val="275"/>
              </a:spcBef>
              <a:tabLst>
                <a:tab algn="l" pos="0"/>
              </a:tabLst>
            </a:pP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 Box 1"/>
          <p:cNvSpPr/>
          <p:nvPr/>
        </p:nvSpPr>
        <p:spPr>
          <a:xfrm>
            <a:off x="685800" y="609480"/>
            <a:ext cx="7771680" cy="11422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Cel projektu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Box 2"/>
          <p:cNvSpPr/>
          <p:nvPr/>
        </p:nvSpPr>
        <p:spPr>
          <a:xfrm>
            <a:off x="685800" y="1981080"/>
            <a:ext cx="8028720" cy="411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449280">
              <a:lnSpc>
                <a:spcPct val="100000"/>
              </a:lnSpc>
              <a:spcBef>
                <a:spcPts val="45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Celem projektu jest zbudowanie systemu, który umożliwi użytkownikom serwera Discrod łatwą digitalizację notatek pisanych ręcznie. Proces ten musi być jak najmniej uciążliwy.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Box 1"/>
          <p:cNvSpPr/>
          <p:nvPr/>
        </p:nvSpPr>
        <p:spPr>
          <a:xfrm>
            <a:off x="785880" y="428760"/>
            <a:ext cx="7771680" cy="85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32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Żądania Zamawiającego</a:t>
            </a:r>
            <a:endParaRPr lang="pl-P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Box 2"/>
          <p:cNvSpPr/>
          <p:nvPr/>
        </p:nvSpPr>
        <p:spPr>
          <a:xfrm>
            <a:off x="714240" y="1428840"/>
            <a:ext cx="7771680" cy="45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Pierwszym etapem prac ma być opracowanie projektu systemu, który zapewni:  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Stworzenie sprawnego mostu między notowaniem analogowym a cyfrowym archiwum, pozwalającego na zachowanie tradycyjnych metod pracy przy jednoczesnym wykorzystaniu zalet edycji komputerowej i archiwizacji na komputerze.  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Automatyzację procesu kategoryzacji i przetwarzania treści, aby użytkownik nie musiał tracić czasu na ręczne nazywanie plików, ich konwersję i przenoszenie do odpowiednich katalogów.  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Integrację z systemem umożliwiającym przeszukiwanie tworzonej bazy wiedzy, która umożliwi szybki dostęp do myśli i koncepcji zapisanych wcześniej w formie fizycznej. 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800" b="0" u="none" strike="noStrike">
                <a:solidFill>
                  <a:srgbClr val="000000"/>
                </a:solidFill>
                <a:effectLst/>
                <a:uFillTx/>
                <a:latin typeface="Constantia"/>
              </a:rPr>
              <a:t>Możliwość doprecyzowania szczegółów przetwarzania notatki z poziomu ręcznie pisanej notatki. 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Box 1"/>
          <p:cNvSpPr/>
          <p:nvPr/>
        </p:nvSpPr>
        <p:spPr>
          <a:xfrm>
            <a:off x="642960" y="642960"/>
            <a:ext cx="7771680" cy="8564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Wymagania na system</a:t>
            </a: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(FEAT)</a:t>
            </a:r>
            <a:endParaRPr lang="pl-P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1" name="Tabela 3"/>
          <p:cNvGraphicFramePr/>
          <p:nvPr/>
        </p:nvGraphicFramePr>
        <p:xfrm>
          <a:off x="357120" y="2114640"/>
          <a:ext cx="8429040" cy="1076040"/>
        </p:xfrm>
        <a:graphic>
          <a:graphicData uri="http://schemas.openxmlformats.org/drawingml/2006/table">
            <a:tbl>
              <a:tblPr/>
              <a:tblGrid>
                <a:gridCol w="1133640"/>
                <a:gridCol w="7295760"/>
              </a:tblGrid>
              <a:tr h="237960"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FEAT1: 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l-PL" sz="1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Reakcja na zdjęcie poniżej 1 sekundy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618480"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</a:t>
                      </a: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2: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l-PL" sz="1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Użytkownik otrzymuje zdigitalizowaną notatkę w rozsądnym czasie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Box 1"/>
          <p:cNvSpPr/>
          <p:nvPr/>
        </p:nvSpPr>
        <p:spPr>
          <a:xfrm>
            <a:off x="642960" y="642960"/>
            <a:ext cx="7771680" cy="8564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Wymagania </a:t>
            </a: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funkcjonalne </a:t>
            </a:r>
            <a:r>
              <a:rPr lang="en-GB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na system</a:t>
            </a: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(UC)</a:t>
            </a:r>
            <a:endParaRPr lang="pl-PL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3" name="Tabela 3"/>
          <p:cNvGraphicFramePr/>
          <p:nvPr/>
        </p:nvGraphicFramePr>
        <p:xfrm>
          <a:off x="357120" y="2114640"/>
          <a:ext cx="8429040" cy="1524960"/>
        </p:xfrm>
        <a:graphic>
          <a:graphicData uri="http://schemas.openxmlformats.org/drawingml/2006/table">
            <a:tbl>
              <a:tblPr/>
              <a:tblGrid>
                <a:gridCol w="1133640"/>
                <a:gridCol w="7295760"/>
              </a:tblGrid>
              <a:tr h="396360"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UC1</a:t>
                      </a: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 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l-PL" sz="1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Dodanie użytkownika do systemu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96360"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</a:t>
                      </a: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1.1</a:t>
                      </a: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l-PL" sz="1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 Skonfigurowanie lokalizacji do zapisu notatki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  <a:tr h="609840"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UC1</a:t>
                      </a: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2: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l-PL" sz="1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Użytkownik łączy konto discord z kontem w systemie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4" name="Tabela 3"/>
          <p:cNvGraphicFramePr/>
          <p:nvPr/>
        </p:nvGraphicFramePr>
        <p:xfrm>
          <a:off x="357120" y="3947400"/>
          <a:ext cx="8429040" cy="1524960"/>
        </p:xfrm>
        <a:graphic>
          <a:graphicData uri="http://schemas.openxmlformats.org/drawingml/2006/table">
            <a:tbl>
              <a:tblPr/>
              <a:tblGrid>
                <a:gridCol w="1133640"/>
                <a:gridCol w="7295760"/>
              </a:tblGrid>
              <a:tr h="0"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UC2</a:t>
                      </a: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 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l-PL" sz="1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Przekształcenie notatki analogowej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</a:tr>
              <a:tr h="396360"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UC2</a:t>
                      </a: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.1</a:t>
                      </a: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: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l-PL" sz="1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Z notatki muszą być wyciąganie tagi techniczne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40000"/>
                      </a:schemeClr>
                    </a:solidFill>
                  </a:tcPr>
                </a:tc>
              </a:tr>
              <a:tr h="609840"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UC2</a:t>
                      </a:r>
                      <a:r>
                        <a:rPr lang="en-GB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.</a:t>
                      </a:r>
                      <a:r>
                        <a:rPr lang="pl-PL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2: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l-PL" sz="12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W notatce musi być rozpoznana struktura tekstu.</a:t>
                      </a:r>
                      <a:endParaRPr lang="pl-PL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4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 Box 1"/>
          <p:cNvSpPr/>
          <p:nvPr/>
        </p:nvSpPr>
        <p:spPr>
          <a:xfrm>
            <a:off x="571680" y="428760"/>
            <a:ext cx="824652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Mapowanie żądań na wymagania</a:t>
            </a:r>
            <a:r>
              <a:rPr lang="pl-PL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 </a:t>
            </a: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-</a:t>
            </a:r>
            <a:r>
              <a:rPr lang="pl-PL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 </a:t>
            </a: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macierz</a:t>
            </a:r>
            <a:endParaRPr lang="pl-PL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6" name="Picture 2"/>
          <p:cNvPicPr/>
          <p:nvPr/>
        </p:nvPicPr>
        <p:blipFill>
          <a:blip r:embed="rId1"/>
          <a:stretch/>
        </p:blipFill>
        <p:spPr>
          <a:xfrm>
            <a:off x="876600" y="1730160"/>
            <a:ext cx="3351960" cy="469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7" name="Picture 4"/>
          <p:cNvPicPr/>
          <p:nvPr/>
        </p:nvPicPr>
        <p:blipFill>
          <a:blip r:embed="rId2"/>
          <a:stretch/>
        </p:blipFill>
        <p:spPr>
          <a:xfrm>
            <a:off x="4980600" y="1707840"/>
            <a:ext cx="3286440" cy="4721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Text Box 1"/>
          <p:cNvSpPr/>
          <p:nvPr/>
        </p:nvSpPr>
        <p:spPr>
          <a:xfrm>
            <a:off x="685800" y="465120"/>
            <a:ext cx="7771680" cy="14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4400" b="0" u="none" strike="noStrike">
                <a:solidFill>
                  <a:srgbClr val="0b5395"/>
                </a:solidFill>
                <a:effectLst/>
                <a:uFillTx/>
                <a:latin typeface="Times New Roman"/>
              </a:rPr>
              <a:t>Specyfikacja wymagań dodatkowych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Box 2"/>
          <p:cNvSpPr/>
          <p:nvPr/>
        </p:nvSpPr>
        <p:spPr>
          <a:xfrm>
            <a:off x="428760" y="2143080"/>
            <a:ext cx="814320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44928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14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Wymagania użyteczności i ergonomii: Użytkownik otrzymuje zdigitalizowaną notatkę w rozsądnym czasie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lang="pl-PL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4928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14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Wymagania wydajnościowe: Użytkownik zawsze odczuwa szybką reakcję systemu, Reakcja na zdjęcie poniżej 1 sekundy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lang="pl-PL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49280">
              <a:lnSpc>
                <a:spcPct val="100000"/>
              </a:lnSpc>
              <a:buClr>
                <a:srgbClr val="000000"/>
              </a:buClr>
              <a:buFont typeface="Calibri"/>
              <a:buAutoNum type="arabicPeriod"/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1400" b="1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Wymagania niezawodnościowe: Podanie przyczyny niemożności stworzenia notatki</a:t>
            </a:r>
            <a:endParaRPr lang="pl-PL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Box 1"/>
          <p:cNvSpPr/>
          <p:nvPr/>
        </p:nvSpPr>
        <p:spPr>
          <a:xfrm>
            <a:off x="642960" y="500040"/>
            <a:ext cx="7771680" cy="14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Szczegółowa specyfikacja wymagań na system:</a:t>
            </a:r>
            <a:r>
              <a:rPr lang="pl-PL" sz="44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xxx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Box 2"/>
          <p:cNvSpPr/>
          <p:nvPr/>
        </p:nvSpPr>
        <p:spPr>
          <a:xfrm>
            <a:off x="500040" y="2286000"/>
            <a:ext cx="8143200" cy="41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Nazwa projektu: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Notes AI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lang="pl-P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Zespół wykonawcy w składzie: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1. Adam Dąbkowski</a:t>
            </a:r>
            <a:br>
              <a:rPr sz="2800"/>
            </a:b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1143000" y="2286000"/>
            <a:ext cx="7771680" cy="1005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50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Model </a:t>
            </a:r>
            <a:r>
              <a:rPr lang="pl-PL" sz="50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przypadków użycia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title"/>
          </p:nvPr>
        </p:nvSpPr>
        <p:spPr>
          <a:xfrm>
            <a:off x="685800" y="463680"/>
            <a:ext cx="7768440" cy="1431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5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Specyfikacja aktorów</a:t>
            </a:r>
            <a:endParaRPr lang="en-US" sz="50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24" name="Picture 2"/>
          <p:cNvPicPr/>
          <p:nvPr/>
        </p:nvPicPr>
        <p:blipFill>
          <a:blip r:embed="rId1"/>
          <a:stretch/>
        </p:blipFill>
        <p:spPr>
          <a:xfrm>
            <a:off x="2124720" y="2566800"/>
            <a:ext cx="4377600" cy="303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642960" y="285840"/>
            <a:ext cx="7571520" cy="642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GB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Diagram </a:t>
            </a:r>
            <a:r>
              <a:rPr lang="pl-PL" sz="36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(głównych) przypadków użycia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26" name="Picture 280"/>
          <p:cNvPicPr/>
          <p:nvPr/>
        </p:nvPicPr>
        <p:blipFill>
          <a:blip r:embed="rId1"/>
          <a:stretch/>
        </p:blipFill>
        <p:spPr>
          <a:xfrm>
            <a:off x="1260000" y="1800000"/>
            <a:ext cx="6628680" cy="4616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685800" y="463320"/>
            <a:ext cx="7768440" cy="976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sp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pl-PL" sz="2800" b="0" u="none" strike="noStrike">
                <a:solidFill>
                  <a:srgbClr val="0b5395"/>
                </a:solidFill>
                <a:effectLst/>
                <a:uFillTx/>
                <a:latin typeface="Calibri"/>
              </a:rPr>
              <a:t>Administrowanie systemem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28" name="Picture 277"/>
          <p:cNvPicPr/>
          <p:nvPr/>
        </p:nvPicPr>
        <p:blipFill>
          <a:blip r:embed="rId1"/>
          <a:stretch/>
        </p:blipFill>
        <p:spPr>
          <a:xfrm>
            <a:off x="1366560" y="1440000"/>
            <a:ext cx="5833080" cy="4874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714240" y="642960"/>
            <a:ext cx="7768440" cy="537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 anchorCtr="1">
            <a:normAutofit fontScale="62500" lnSpcReduction="1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Scenariusz główny dla przypadku użycia </a:t>
            </a:r>
            <a:br>
              <a:rPr sz="3200"/>
            </a:b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“Przetworzyć notatki odręczne do Markdown”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30" name="pole tekstowe 4"/>
          <p:cNvSpPr/>
          <p:nvPr/>
        </p:nvSpPr>
        <p:spPr>
          <a:xfrm>
            <a:off x="428760" y="2274480"/>
            <a:ext cx="8429040" cy="15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 marL="228600" indent="-2286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Font typeface="OpenSymbol"/>
              <a:buAutoNum type="arabicParenR"/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Użytkownik umieszcza w notatce odręcznej blok tagów technicznych &lt;NOTE&gt;…&lt;/NOTE&gt;.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28600" indent="-2286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Font typeface="OpenSymbol"/>
              <a:buAutoNum type="arabicParenR"/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W trakcie przetwarzania system wykrywa tagi.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  <a:ea typeface="Calibri"/>
            </a:endParaRPr>
          </a:p>
          <a:p>
            <a:pPr marL="228600" indent="-2286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Font typeface="OpenSymbol"/>
              <a:buAutoNum type="arabicParenR"/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Instrukcje z tagów są przekazywane do modelu AI jako meta-polecenia.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28600" indent="-228600">
              <a:lnSpc>
                <a:spcPct val="100000"/>
              </a:lnSpc>
              <a:spcBef>
                <a:spcPts val="567"/>
              </a:spcBef>
              <a:spcAft>
                <a:spcPts val="567"/>
              </a:spcAft>
              <a:buClr>
                <a:srgbClr val="000000"/>
              </a:buClr>
              <a:buFont typeface="OpenSymbol"/>
              <a:buAutoNum type="arabicParenR"/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Model wykonuje dodatkowe operacje (np. podsumowanie, dodanie kategorii, wyodrębnienie cytatów).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28600" indent="-228600">
              <a:lnSpc>
                <a:spcPct val="100000"/>
              </a:lnSpc>
              <a:spcBef>
                <a:spcPts val="567"/>
              </a:spcBef>
              <a:spcAft>
                <a:spcPts val="967"/>
              </a:spcAft>
              <a:buClr>
                <a:srgbClr val="000000"/>
              </a:buClr>
              <a:buFont typeface="OpenSymbol"/>
              <a:buAutoNum type="arabicParenR"/>
            </a:pPr>
            <a:r>
              <a:rPr lang="pl-PL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Wynik jest uwzględniony w finalnym pliku Markdown.</a:t>
            </a:r>
            <a:endParaRPr lang="pl-PL" sz="11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714240" y="642960"/>
            <a:ext cx="7768440" cy="537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 anchorCtr="1">
            <a:normAutofit fontScale="62500" lnSpcReduction="1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Scenariusz alternatywny dla przypadku użycia </a:t>
            </a:r>
            <a:br>
              <a:rPr sz="3200"/>
            </a:br>
            <a:r>
              <a:rPr lang="pl-PL" sz="32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“Sterować zachowaniem AI przy pomocy tagów &lt;NOTE&gt;”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32" name="pole tekstowe 4"/>
          <p:cNvSpPr/>
          <p:nvPr/>
        </p:nvSpPr>
        <p:spPr>
          <a:xfrm>
            <a:off x="428760" y="1597680"/>
            <a:ext cx="8429040" cy="74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44928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OpenSymbol"/>
              <a:buAutoNum type="arabicParenR"/>
            </a:pPr>
            <a:r>
              <a:rPr lang="pl-PL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W notatce nie ma tagów &lt;NOTE&gt;</a:t>
            </a:r>
            <a:endParaRPr lang="pl-PL" sz="10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283"/>
              </a:spcBef>
              <a:spcAft>
                <a:spcPts val="683"/>
              </a:spcAft>
              <a:buClr>
                <a:srgbClr val="000000"/>
              </a:buClr>
              <a:buFont typeface="OpenSymbol"/>
              <a:buAutoNum type="arabicParenR"/>
            </a:pPr>
            <a:r>
              <a:rPr lang="pl-PL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System pomija krok</a:t>
            </a:r>
            <a:endParaRPr lang="pl-PL" sz="10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marL="216000" indent="-216000">
              <a:lnSpc>
                <a:spcPct val="100000"/>
              </a:lnSpc>
              <a:spcBef>
                <a:spcPts val="283"/>
              </a:spcBef>
              <a:spcAft>
                <a:spcPts val="683"/>
              </a:spcAft>
              <a:buClr>
                <a:srgbClr val="000000"/>
              </a:buClr>
              <a:buFont typeface="OpenSymbol"/>
              <a:buAutoNum type="arabicParenR"/>
            </a:pPr>
            <a:r>
              <a:rPr lang="pl-PL" sz="1000" b="0" u="none" strike="noStrik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Kontynuuje normalne przetwarzanie (nie jest to błąd)</a:t>
            </a:r>
            <a:endParaRPr lang="pl-PL" sz="10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1857240" y="571680"/>
            <a:ext cx="585720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aktywności dla przypadku użycia „Sterować  AI za pomocą tagów &lt;NOTE&gt;”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34" name=""/>
          <p:cNvPicPr/>
          <p:nvPr/>
        </p:nvPicPr>
        <p:blipFill>
          <a:blip r:embed="rId1"/>
          <a:stretch/>
        </p:blipFill>
        <p:spPr>
          <a:xfrm>
            <a:off x="1260000" y="1604880"/>
            <a:ext cx="6181920" cy="451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 Box 1"/>
          <p:cNvSpPr/>
          <p:nvPr/>
        </p:nvSpPr>
        <p:spPr>
          <a:xfrm>
            <a:off x="642960" y="500040"/>
            <a:ext cx="7771680" cy="1431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Analiza </a:t>
            </a: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system</a:t>
            </a: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u</a:t>
            </a: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</a:t>
            </a: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NOTES-AI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Box 2"/>
          <p:cNvSpPr/>
          <p:nvPr/>
        </p:nvSpPr>
        <p:spPr>
          <a:xfrm>
            <a:off x="500040" y="2286000"/>
            <a:ext cx="8143200" cy="41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Nazwa projektu: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NOTES-AI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lang="pl-P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Zespół wykonawcy w składzie: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1. 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Piotr Gugnowski</a:t>
            </a:r>
            <a:br>
              <a:rPr sz="2800"/>
            </a:b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Text Box 2"/>
          <p:cNvSpPr/>
          <p:nvPr/>
        </p:nvSpPr>
        <p:spPr>
          <a:xfrm>
            <a:off x="428760" y="1357200"/>
            <a:ext cx="6769800" cy="45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49280">
              <a:lnSpc>
                <a:spcPct val="100000"/>
              </a:lnSpc>
            </a:pPr>
            <a:r>
              <a:rPr lang="pl-PL" sz="24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Realizacje usług systemu Przekształcanie notatki:</a:t>
            </a: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 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Rectangle 5"/>
          <p:cNvSpPr/>
          <p:nvPr/>
        </p:nvSpPr>
        <p:spPr>
          <a:xfrm>
            <a:off x="1190520" y="2362320"/>
            <a:ext cx="91432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>
            <a:sp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1714680" y="571680"/>
            <a:ext cx="585720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realizacji przypadków użycia 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40" name="Picture 2"/>
          <p:cNvPicPr/>
          <p:nvPr/>
        </p:nvPicPr>
        <p:blipFill>
          <a:blip r:embed="rId1"/>
          <a:stretch/>
        </p:blipFill>
        <p:spPr>
          <a:xfrm>
            <a:off x="1714680" y="1901520"/>
            <a:ext cx="5439240" cy="462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 Box 2"/>
          <p:cNvSpPr/>
          <p:nvPr/>
        </p:nvSpPr>
        <p:spPr>
          <a:xfrm>
            <a:off x="428760" y="1357200"/>
            <a:ext cx="6943680" cy="45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49280">
              <a:lnSpc>
                <a:spcPct val="100000"/>
              </a:lnSpc>
            </a:pPr>
            <a:r>
              <a:rPr lang="pl-PL" sz="2400" b="1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Realizacje usług systemu Administracja systemem:</a:t>
            </a:r>
            <a:r>
              <a:rPr lang="pl-PL" sz="2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 </a:t>
            </a:r>
            <a:endParaRPr lang="pl-PL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ectangle 5"/>
          <p:cNvSpPr/>
          <p:nvPr/>
        </p:nvSpPr>
        <p:spPr>
          <a:xfrm>
            <a:off x="1190520" y="2362320"/>
            <a:ext cx="914328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44280" bIns="-44280" anchor="t">
            <a:spAutoFit/>
          </a:bodyPr>
          <a:p>
            <a:pPr defTabSz="449280">
              <a:lnSpc>
                <a:spcPct val="100000"/>
              </a:lnSpc>
            </a:pPr>
            <a:endParaRPr lang="pl-PL" sz="2400" b="0" u="none" strike="noStrike">
              <a:solidFill>
                <a:schemeClr val="lt1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1714680" y="571680"/>
            <a:ext cx="585720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realizacji przypadków użycia 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44" name="Picture 3"/>
          <p:cNvPicPr/>
          <p:nvPr/>
        </p:nvPicPr>
        <p:blipFill>
          <a:blip r:embed="rId1"/>
          <a:stretch/>
        </p:blipFill>
        <p:spPr>
          <a:xfrm>
            <a:off x="1683000" y="1867320"/>
            <a:ext cx="5028120" cy="442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2466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32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VOPC dla realizacji przypadków użycia Przekształcenie notatki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Przetworzyć notatki odręczne do Markdown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47" name="Picture 2"/>
          <p:cNvPicPr/>
          <p:nvPr/>
        </p:nvPicPr>
        <p:blipFill>
          <a:blip r:embed="rId1"/>
          <a:stretch/>
        </p:blipFill>
        <p:spPr>
          <a:xfrm>
            <a:off x="2500200" y="1704600"/>
            <a:ext cx="4143600" cy="344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Sterować zachowaniem AI za pomocą tagów &lt;NOTE&gt;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49" name="Picture 3"/>
          <p:cNvPicPr/>
          <p:nvPr/>
        </p:nvPicPr>
        <p:blipFill>
          <a:blip r:embed="rId1"/>
          <a:stretch/>
        </p:blipFill>
        <p:spPr>
          <a:xfrm>
            <a:off x="2633400" y="1657080"/>
            <a:ext cx="3876840" cy="354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Otrzymać potwierdzenie przetworzenia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51" name="Picture 2"/>
          <p:cNvPicPr/>
          <p:nvPr/>
        </p:nvPicPr>
        <p:blipFill>
          <a:blip r:embed="rId1"/>
          <a:stretch/>
        </p:blipFill>
        <p:spPr>
          <a:xfrm>
            <a:off x="2118960" y="1652400"/>
            <a:ext cx="4905720" cy="3552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Wysłać notatki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53" name="Picture 3"/>
          <p:cNvPicPr/>
          <p:nvPr/>
        </p:nvPicPr>
        <p:blipFill>
          <a:blip r:embed="rId1"/>
          <a:stretch/>
        </p:blipFill>
        <p:spPr>
          <a:xfrm>
            <a:off x="1704600" y="1766520"/>
            <a:ext cx="5734440" cy="332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24663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32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VOPC dla realizacji przypadków użycia Administacja systemem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Dodanie użytkownika do systemu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56" name="Picture 2"/>
          <p:cNvPicPr/>
          <p:nvPr/>
        </p:nvPicPr>
        <p:blipFill>
          <a:blip r:embed="rId1"/>
          <a:stretch/>
        </p:blipFill>
        <p:spPr>
          <a:xfrm>
            <a:off x="2133360" y="1528560"/>
            <a:ext cx="4877280" cy="380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Skonfigurować lokalizację zapisu notatek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58" name="Picture 3"/>
          <p:cNvPicPr/>
          <p:nvPr/>
        </p:nvPicPr>
        <p:blipFill>
          <a:blip r:embed="rId1"/>
          <a:stretch/>
        </p:blipFill>
        <p:spPr>
          <a:xfrm>
            <a:off x="2033280" y="1528560"/>
            <a:ext cx="5077080" cy="380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Skonfigurować token Discord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60" name="Picture 2"/>
          <p:cNvPicPr/>
          <p:nvPr/>
        </p:nvPicPr>
        <p:blipFill>
          <a:blip r:embed="rId1"/>
          <a:stretch/>
        </p:blipFill>
        <p:spPr>
          <a:xfrm>
            <a:off x="2290320" y="1895400"/>
            <a:ext cx="4562640" cy="306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VOPC dla realizacji przypadku użycia Wybór modelu AI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62" name="Picture 3"/>
          <p:cNvPicPr/>
          <p:nvPr/>
        </p:nvPicPr>
        <p:blipFill>
          <a:blip r:embed="rId1"/>
          <a:stretch/>
        </p:blipFill>
        <p:spPr>
          <a:xfrm>
            <a:off x="2057040" y="2004840"/>
            <a:ext cx="5029560" cy="2847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Definicje klas analitycznych (opis)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64" name="TextBox 8"/>
          <p:cNvSpPr/>
          <p:nvPr/>
        </p:nvSpPr>
        <p:spPr>
          <a:xfrm>
            <a:off x="1189800" y="1795680"/>
            <a:ext cx="6549840" cy="369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DaneDiscord Bot: 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Ma możliwość dodawania użytkowników do systemu NOTES-AI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Discord serwer: Ruch grupy Filozofowie Analogowi się tu odbywa.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Lokalizacja zapisu notatek Markdown: MIejsce, z którego użytkownik będzie przeglądał notatki w programie 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ObsidianObsidian: Aplikacja do przeglądania notatek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Użytkownik: Użytkownik systemu NOTES-AIZaplecze systemu notes AI: Zaplecze Notes AI</a:t>
            </a:r>
            <a:endParaRPr lang="pl-PL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Definicje klas analitycznych (opis cd.)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sp>
        <p:nvSpPr>
          <p:cNvPr id="366" name="TextBox 8"/>
          <p:cNvSpPr/>
          <p:nvPr/>
        </p:nvSpPr>
        <p:spPr>
          <a:xfrm>
            <a:off x="312120" y="1148040"/>
            <a:ext cx="8056800" cy="50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Dane Aplikacja 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Obsidian: Aplikacja Obsidian, na której użytkownik może wyświetlić notatkę Markdown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Bot Discord: Bot śledzący aktywność na serwerze discord, reaguje na wgrane zdjęcia.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Kolejka zdjęć: Przechowuje w odpowiedniej kolejości zdjęcia wgrywane do zaplecza systemu w celu przetworzenia bezprzeciążenia infrastruktury.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Notatka analogowa: Zdjęcie notatki ręcznie napisanej przez użytkownika systemu.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Notatka Markdown: Zdigitalizowana notatka użytkownika po obsłużeniu przez system NOTES-AI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Silnik do inferencji dużych modeli językowych: Silnik do inferencji LLM, np. Ollama, przetwarza zdjecia na markdown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Użytkownik: Wgrywa zdjęcia notatek do systemu NOTES-AI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l-PL" sz="1600" b="0" u="none" strike="noStrike">
                <a:solidFill>
                  <a:schemeClr val="dk1"/>
                </a:solidFill>
                <a:effectLst/>
                <a:uFillTx/>
                <a:latin typeface="Constantia"/>
              </a:rPr>
              <a:t>Zaplecze przetwarzające notatki: Zaplecze systemu NOTES-AI z całą niewidoczną infrastrukturą</a:t>
            </a:r>
            <a:endParaRPr lang="pl-PL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Klasy analityczne administracji systemem(diagram)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68" name="Picture 2"/>
          <p:cNvPicPr/>
          <p:nvPr/>
        </p:nvPicPr>
        <p:blipFill>
          <a:blip r:embed="rId1"/>
          <a:stretch/>
        </p:blipFill>
        <p:spPr>
          <a:xfrm>
            <a:off x="785880" y="1547640"/>
            <a:ext cx="7672680" cy="4484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Klasy analityczne obszaru przekształcenia notatki(diagram)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70" name="Picture 3"/>
          <p:cNvPicPr/>
          <p:nvPr/>
        </p:nvPicPr>
        <p:blipFill>
          <a:blip r:embed="rId1"/>
          <a:stretch/>
        </p:blipFill>
        <p:spPr>
          <a:xfrm>
            <a:off x="773640" y="1635480"/>
            <a:ext cx="7381800" cy="4003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sekwencji dla realizacji przypadku użycia xxx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893160" y="2470320"/>
            <a:ext cx="7357320" cy="1746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36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komunikacji dla realizacji przypadków użycia Przekształcenie notatki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Przetworzyć notatki odręczne do Markdown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74" name="Picture 2"/>
          <p:cNvPicPr/>
          <p:nvPr/>
        </p:nvPicPr>
        <p:blipFill>
          <a:blip r:embed="rId1"/>
          <a:stretch/>
        </p:blipFill>
        <p:spPr>
          <a:xfrm>
            <a:off x="289800" y="1085400"/>
            <a:ext cx="8563680" cy="4686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Sterować zachowaniem AI za pomocą tagów &lt;NOTE&gt;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76" name="Picture 3"/>
          <p:cNvPicPr/>
          <p:nvPr/>
        </p:nvPicPr>
        <p:blipFill>
          <a:blip r:embed="rId1"/>
          <a:stretch/>
        </p:blipFill>
        <p:spPr>
          <a:xfrm>
            <a:off x="1466280" y="1171440"/>
            <a:ext cx="6210720" cy="451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Otrzymać potwierdzenie przetworzenia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78" name="Picture 2"/>
          <p:cNvPicPr/>
          <p:nvPr/>
        </p:nvPicPr>
        <p:blipFill>
          <a:blip r:embed="rId1"/>
          <a:stretch/>
        </p:blipFill>
        <p:spPr>
          <a:xfrm>
            <a:off x="923400" y="1109160"/>
            <a:ext cx="7296840" cy="4638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Wysłać notatki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80" name="Picture 3"/>
          <p:cNvPicPr/>
          <p:nvPr/>
        </p:nvPicPr>
        <p:blipFill>
          <a:blip r:embed="rId1"/>
          <a:stretch/>
        </p:blipFill>
        <p:spPr>
          <a:xfrm>
            <a:off x="1032840" y="1128240"/>
            <a:ext cx="7077600" cy="460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893160" y="2470320"/>
            <a:ext cx="7357320" cy="17460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36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Diagramy komunikacji dla realizacji przypadków użycia Administracji systemem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Dodanie użytkownika do systemu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83" name="Picture 2"/>
          <p:cNvPicPr/>
          <p:nvPr/>
        </p:nvPicPr>
        <p:blipFill>
          <a:blip r:embed="rId1"/>
          <a:stretch/>
        </p:blipFill>
        <p:spPr>
          <a:xfrm>
            <a:off x="1018800" y="1104480"/>
            <a:ext cx="7106400" cy="464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Skonfigurować lokalizację zapisu notatek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85" name="Picture 3"/>
          <p:cNvPicPr/>
          <p:nvPr/>
        </p:nvPicPr>
        <p:blipFill>
          <a:blip r:embed="rId1"/>
          <a:stretch/>
        </p:blipFill>
        <p:spPr>
          <a:xfrm>
            <a:off x="1061640" y="1190160"/>
            <a:ext cx="7020720" cy="447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Skonfigurować ścieżkę do Obsidian Vault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87" name="Picture 2"/>
          <p:cNvPicPr/>
          <p:nvPr/>
        </p:nvPicPr>
        <p:blipFill>
          <a:blip r:embed="rId1"/>
          <a:stretch/>
        </p:blipFill>
        <p:spPr>
          <a:xfrm>
            <a:off x="1418760" y="1199880"/>
            <a:ext cx="6306120" cy="445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Skonfigurować token Discord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89" name="Picture 3"/>
          <p:cNvPicPr/>
          <p:nvPr/>
        </p:nvPicPr>
        <p:blipFill>
          <a:blip r:embed="rId1"/>
          <a:stretch/>
        </p:blipFill>
        <p:spPr>
          <a:xfrm>
            <a:off x="1228320" y="1004400"/>
            <a:ext cx="6687000" cy="4848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komunikacji dla realizacji przypadku użycia Wybór modelu AI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91" name="Picture 2"/>
          <p:cNvPicPr/>
          <p:nvPr/>
        </p:nvPicPr>
        <p:blipFill>
          <a:blip r:embed="rId1"/>
          <a:stretch/>
        </p:blipFill>
        <p:spPr>
          <a:xfrm>
            <a:off x="723240" y="1080720"/>
            <a:ext cx="7696800" cy="469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 Box 1"/>
          <p:cNvSpPr/>
          <p:nvPr/>
        </p:nvSpPr>
        <p:spPr>
          <a:xfrm>
            <a:off x="642960" y="500040"/>
            <a:ext cx="7771680" cy="1431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449280">
              <a:lnSpc>
                <a:spcPct val="100000"/>
              </a:lnSpc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Projektowanie </a:t>
            </a: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system</a:t>
            </a: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u</a:t>
            </a:r>
            <a:r>
              <a:rPr lang="en-GB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 </a:t>
            </a:r>
            <a:r>
              <a:rPr lang="pl-PL" sz="44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Calibri"/>
              </a:rPr>
              <a:t>xxx</a:t>
            </a:r>
            <a:endParaRPr lang="pl-PL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Box 2"/>
          <p:cNvSpPr/>
          <p:nvPr/>
        </p:nvSpPr>
        <p:spPr>
          <a:xfrm>
            <a:off x="500040" y="2286000"/>
            <a:ext cx="8143200" cy="41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Nazwa projektu: </a:t>
            </a:r>
            <a:r>
              <a:rPr lang="pl-PL" sz="28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xxx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endParaRPr lang="pl-PL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Zespół wykonawcy w składzie: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49280">
              <a:lnSpc>
                <a:spcPct val="100000"/>
              </a:lnSpc>
              <a:spcBef>
                <a:spcPts val="601"/>
              </a:spcBef>
              <a:tabLst>
                <a:tab algn="l" pos="0"/>
                <a:tab algn="l" pos="447840"/>
                <a:tab algn="l" pos="896760"/>
                <a:tab algn="l" pos="1346040"/>
                <a:tab algn="l" pos="1795320"/>
                <a:tab algn="l" pos="2244600"/>
                <a:tab algn="l" pos="2693880"/>
                <a:tab algn="l" pos="3143160"/>
                <a:tab algn="l" pos="3592440"/>
                <a:tab algn="l" pos="4041720"/>
                <a:tab algn="l" pos="4491000"/>
                <a:tab algn="l" pos="4940280"/>
                <a:tab algn="l" pos="5389560"/>
                <a:tab algn="l" pos="5838840"/>
                <a:tab algn="l" pos="6288120"/>
                <a:tab algn="l" pos="6737400"/>
                <a:tab algn="l" pos="7186680"/>
                <a:tab algn="l" pos="7635960"/>
                <a:tab algn="l" pos="8085240"/>
                <a:tab algn="l" pos="8534520"/>
                <a:tab algn="l" pos="8983800"/>
              </a:tabLst>
            </a:pP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1. 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xxx</a:t>
            </a:r>
            <a:br>
              <a:rPr sz="2800"/>
            </a:b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r>
              <a:rPr lang="pl-PL" sz="28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	</a:t>
            </a:r>
            <a:endParaRPr lang="pl-PL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 Interfejsy - Przekształcenie notatki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95" name="Picture 2"/>
          <p:cNvPicPr/>
          <p:nvPr/>
        </p:nvPicPr>
        <p:blipFill>
          <a:blip r:embed="rId1"/>
          <a:stretch/>
        </p:blipFill>
        <p:spPr>
          <a:xfrm>
            <a:off x="1872720" y="1373760"/>
            <a:ext cx="5518080" cy="478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 Interfejsy - Administracja systemem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97" name="Picture 3"/>
          <p:cNvPicPr/>
          <p:nvPr/>
        </p:nvPicPr>
        <p:blipFill>
          <a:blip r:embed="rId1"/>
          <a:stretch/>
        </p:blipFill>
        <p:spPr>
          <a:xfrm>
            <a:off x="1953720" y="1701720"/>
            <a:ext cx="5236200" cy="459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 Logika Aplikacji – Zarządzanie systemem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399" name="Picture 2"/>
          <p:cNvPicPr/>
          <p:nvPr/>
        </p:nvPicPr>
        <p:blipFill>
          <a:blip r:embed="rId1"/>
          <a:stretch/>
        </p:blipFill>
        <p:spPr>
          <a:xfrm>
            <a:off x="1576080" y="1076040"/>
            <a:ext cx="5376960" cy="422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 Logika Aplikacji – Przekształcanie zdjęcia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01" name="Picture 3"/>
          <p:cNvPicPr/>
          <p:nvPr/>
        </p:nvPicPr>
        <p:blipFill>
          <a:blip r:embed="rId1"/>
          <a:stretch/>
        </p:blipFill>
        <p:spPr>
          <a:xfrm>
            <a:off x="1390320" y="1090440"/>
            <a:ext cx="6363360" cy="467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 Dane Adminisrtacja Systemem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03" name="Picture 2"/>
          <p:cNvPicPr/>
          <p:nvPr/>
        </p:nvPicPr>
        <p:blipFill>
          <a:blip r:embed="rId1"/>
          <a:stretch/>
        </p:blipFill>
        <p:spPr>
          <a:xfrm>
            <a:off x="1013760" y="1485720"/>
            <a:ext cx="7129440" cy="4672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klas projektowych Dane Przekształcanie notatki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05" name="Picture 2"/>
          <p:cNvPicPr/>
          <p:nvPr/>
        </p:nvPicPr>
        <p:blipFill>
          <a:blip r:embed="rId1"/>
          <a:stretch/>
        </p:blipFill>
        <p:spPr>
          <a:xfrm>
            <a:off x="1187280" y="1735200"/>
            <a:ext cx="6571800" cy="443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07" name="Picture 4"/>
          <p:cNvPicPr/>
          <p:nvPr/>
        </p:nvPicPr>
        <p:blipFill>
          <a:blip r:embed="rId1"/>
          <a:stretch/>
        </p:blipFill>
        <p:spPr>
          <a:xfrm>
            <a:off x="1460160" y="1080720"/>
            <a:ext cx="5679000" cy="252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8" name="Picture 6"/>
          <p:cNvPicPr/>
          <p:nvPr/>
        </p:nvPicPr>
        <p:blipFill>
          <a:blip r:embed="rId2"/>
          <a:stretch/>
        </p:blipFill>
        <p:spPr>
          <a:xfrm>
            <a:off x="1460160" y="3609720"/>
            <a:ext cx="5679000" cy="286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10" name="Picture 2"/>
          <p:cNvPicPr/>
          <p:nvPr/>
        </p:nvPicPr>
        <p:blipFill>
          <a:blip r:embed="rId1"/>
          <a:stretch/>
        </p:blipFill>
        <p:spPr>
          <a:xfrm>
            <a:off x="1318680" y="1117440"/>
            <a:ext cx="6506280" cy="1562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1" name="Picture 5"/>
          <p:cNvPicPr/>
          <p:nvPr/>
        </p:nvPicPr>
        <p:blipFill>
          <a:blip r:embed="rId2"/>
          <a:stretch/>
        </p:blipFill>
        <p:spPr>
          <a:xfrm>
            <a:off x="1318680" y="2679840"/>
            <a:ext cx="6506280" cy="252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13" name="Picture 3"/>
          <p:cNvPicPr/>
          <p:nvPr/>
        </p:nvPicPr>
        <p:blipFill>
          <a:blip r:embed="rId1"/>
          <a:stretch/>
        </p:blipFill>
        <p:spPr>
          <a:xfrm>
            <a:off x="1254240" y="1062000"/>
            <a:ext cx="6420240" cy="218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4" name="Picture 6"/>
          <p:cNvPicPr/>
          <p:nvPr/>
        </p:nvPicPr>
        <p:blipFill>
          <a:blip r:embed="rId2"/>
          <a:stretch/>
        </p:blipFill>
        <p:spPr>
          <a:xfrm>
            <a:off x="1312200" y="3243240"/>
            <a:ext cx="6304680" cy="2312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16" name="Picture 2"/>
          <p:cNvPicPr/>
          <p:nvPr/>
        </p:nvPicPr>
        <p:blipFill>
          <a:blip r:embed="rId1"/>
          <a:stretch/>
        </p:blipFill>
        <p:spPr>
          <a:xfrm>
            <a:off x="1309320" y="1069920"/>
            <a:ext cx="6525000" cy="32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7" name="Picture 5"/>
          <p:cNvPicPr/>
          <p:nvPr/>
        </p:nvPicPr>
        <p:blipFill>
          <a:blip r:embed="rId2"/>
          <a:stretch/>
        </p:blipFill>
        <p:spPr>
          <a:xfrm>
            <a:off x="1309320" y="4327920"/>
            <a:ext cx="6528960" cy="1227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19" name="Picture 3"/>
          <p:cNvPicPr/>
          <p:nvPr/>
        </p:nvPicPr>
        <p:blipFill>
          <a:blip r:embed="rId1"/>
          <a:stretch/>
        </p:blipFill>
        <p:spPr>
          <a:xfrm>
            <a:off x="1492560" y="1130040"/>
            <a:ext cx="5943960" cy="186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0" name="Picture 6"/>
          <p:cNvPicPr/>
          <p:nvPr/>
        </p:nvPicPr>
        <p:blipFill>
          <a:blip r:embed="rId2"/>
          <a:stretch/>
        </p:blipFill>
        <p:spPr>
          <a:xfrm>
            <a:off x="1492560" y="3044880"/>
            <a:ext cx="5946840" cy="338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Opis klas projektowych cd.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22" name="Picture 2"/>
          <p:cNvPicPr/>
          <p:nvPr/>
        </p:nvPicPr>
        <p:blipFill>
          <a:blip r:embed="rId1"/>
          <a:stretch/>
        </p:blipFill>
        <p:spPr>
          <a:xfrm>
            <a:off x="1753920" y="1183320"/>
            <a:ext cx="5409000" cy="75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3" name="Picture 5"/>
          <p:cNvPicPr/>
          <p:nvPr/>
        </p:nvPicPr>
        <p:blipFill>
          <a:blip r:embed="rId2"/>
          <a:stretch/>
        </p:blipFill>
        <p:spPr>
          <a:xfrm>
            <a:off x="1760040" y="1935360"/>
            <a:ext cx="5409000" cy="4697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stanów do obiektu klasy xxx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pakietów: model warstw systemu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komponentów systemu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27" name=""/>
          <p:cNvPicPr/>
          <p:nvPr/>
        </p:nvPicPr>
        <p:blipFill>
          <a:blip r:embed="rId1"/>
          <a:stretch/>
        </p:blipFill>
        <p:spPr>
          <a:xfrm>
            <a:off x="360000" y="1620000"/>
            <a:ext cx="7920000" cy="4146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Diagram wdrożenia systemu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  <p:pic>
        <p:nvPicPr>
          <p:cNvPr id="429" name=""/>
          <p:cNvPicPr/>
          <p:nvPr/>
        </p:nvPicPr>
        <p:blipFill>
          <a:blip r:embed="rId1"/>
          <a:stretch/>
        </p:blipFill>
        <p:spPr>
          <a:xfrm>
            <a:off x="180000" y="1131120"/>
            <a:ext cx="8545320" cy="4808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785880" y="428760"/>
            <a:ext cx="7357320" cy="5025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4572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pl-PL" sz="2400" b="0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Kod systemu: jako wynik transformacji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onstantia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_rels/theme1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2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_rels/theme3.xml.rels><?xml version="1.0" encoding="UTF-8"?>
<Relationships xmlns="http://schemas.openxmlformats.org/package/2006/relationships"><Relationship Id="rId1" Type="http://schemas.openxmlformats.org/officeDocument/2006/relationships/image" Target="../media/image1.jpeg"/>
</Relationships>
</file>

<file path=ppt/theme/theme1.xml><?xml version="1.0" encoding="utf-8"?>
<a:theme xmlns:a="http://schemas.openxmlformats.org/drawingml/2006/main" xmlns:r="http://schemas.openxmlformats.org/officeDocument/2006/relationships" name="Przepływ">
  <a:themeElements>
    <a:clrScheme name="Przepły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Przepływ">
      <a:majorFont>
        <a:latin typeface="Calibri" pitchFamily="0" charset="1"/>
        <a:ea typeface=""/>
        <a:cs typeface=""/>
      </a:majorFont>
      <a:minorFont>
        <a:latin typeface="Constanti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</a:schemeClr>
            </a:gs>
            <a:gs pos="43000">
              <a:schemeClr val="phClr">
                <a:tint val="44000"/>
              </a:schemeClr>
            </a:gs>
            <a:gs pos="93000">
              <a:schemeClr val="phClr">
                <a:tint val="15000"/>
              </a:schemeClr>
            </a:gs>
            <a:gs pos="100000">
              <a:schemeClr val="phClr">
                <a:tint val="5000"/>
              </a:schemeClr>
            </a:gs>
          </a:gsLst>
          <a:path path="circle">
            <a:fillToRect l="50000" t="130000" r="50000" b="-30000"/>
          </a:path>
          <a:tileRect l="0" t="0" r="0" b="0"/>
        </a:gradFill>
        <a:gradFill>
          <a:gsLst>
            <a:gs pos="0">
              <a:schemeClr val="phClr">
                <a:tint val="98000"/>
                <a:shade val="25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tint val="50000"/>
              </a:schemeClr>
            </a:gs>
          </a:gsLst>
          <a:path path="circle">
            <a:fillToRect l="50000" t="130000" r="50000" b="-30000"/>
          </a:path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</a:schemeClr>
            </a:gs>
            <a:gs pos="25000">
              <a:schemeClr val="phClr">
                <a:tint val="83000"/>
              </a:schemeClr>
            </a:gs>
            <a:gs pos="100000">
              <a:schemeClr val="phClr">
                <a:shade val="15000"/>
              </a:schemeClr>
            </a:gs>
          </a:gsLst>
          <a:path path="circle">
            <a:fillToRect l="10000" t="110000" r="10000" b="100000"/>
          </a:path>
          <a:tileRect l="0" t="0" r="0" b="0"/>
        </a:gradFill>
        <a:blipFill rotWithShape="0">
          <a:blip r:embed="rId1"/>
          <a:srcRect l="0" t="0" r="0" b="0"/>
          <a:tile tx="0" ty="0" sx="65000" sy="65000" flip="none" algn="tl"/>
        </a:blip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rzepływ">
  <a:themeElements>
    <a:clrScheme name="Przepły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Przepływ">
      <a:majorFont>
        <a:latin typeface="Calibri" pitchFamily="0" charset="1"/>
        <a:ea typeface=""/>
        <a:cs typeface=""/>
      </a:majorFont>
      <a:minorFont>
        <a:latin typeface="Constanti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</a:schemeClr>
            </a:gs>
            <a:gs pos="43000">
              <a:schemeClr val="phClr">
                <a:tint val="44000"/>
              </a:schemeClr>
            </a:gs>
            <a:gs pos="93000">
              <a:schemeClr val="phClr">
                <a:tint val="15000"/>
              </a:schemeClr>
            </a:gs>
            <a:gs pos="100000">
              <a:schemeClr val="phClr">
                <a:tint val="5000"/>
              </a:schemeClr>
            </a:gs>
          </a:gsLst>
          <a:path path="circle">
            <a:fillToRect l="50000" t="130000" r="50000" b="-30000"/>
          </a:path>
          <a:tileRect l="0" t="0" r="0" b="0"/>
        </a:gradFill>
        <a:gradFill>
          <a:gsLst>
            <a:gs pos="0">
              <a:schemeClr val="phClr">
                <a:tint val="98000"/>
                <a:shade val="25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tint val="50000"/>
              </a:schemeClr>
            </a:gs>
          </a:gsLst>
          <a:path path="circle">
            <a:fillToRect l="50000" t="130000" r="50000" b="-30000"/>
          </a:path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</a:schemeClr>
            </a:gs>
            <a:gs pos="25000">
              <a:schemeClr val="phClr">
                <a:tint val="83000"/>
              </a:schemeClr>
            </a:gs>
            <a:gs pos="100000">
              <a:schemeClr val="phClr">
                <a:shade val="15000"/>
              </a:schemeClr>
            </a:gs>
          </a:gsLst>
          <a:path path="circle">
            <a:fillToRect l="10000" t="110000" r="10000" b="100000"/>
          </a:path>
          <a:tileRect l="0" t="0" r="0" b="0"/>
        </a:gradFill>
        <a:blipFill rotWithShape="0">
          <a:blip r:embed="rId1"/>
          <a:srcRect l="0" t="0" r="0" b="0"/>
          <a:tile tx="0" ty="0" sx="65000" sy="65000" flip="none" algn="tl"/>
        </a:blip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rzepływ">
  <a:themeElements>
    <a:clrScheme name="Przepływ">
      <a:dk1>
        <a:srgbClr val="000000"/>
      </a:dk1>
      <a:lt1>
        <a:srgbClr val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Przepływ">
      <a:majorFont>
        <a:latin typeface="Calibri" pitchFamily="0" charset="1"/>
        <a:ea typeface=""/>
        <a:cs typeface=""/>
      </a:majorFont>
      <a:minorFont>
        <a:latin typeface="Constantia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70000"/>
              </a:schemeClr>
            </a:gs>
            <a:gs pos="43000">
              <a:schemeClr val="phClr">
                <a:tint val="44000"/>
              </a:schemeClr>
            </a:gs>
            <a:gs pos="93000">
              <a:schemeClr val="phClr">
                <a:tint val="15000"/>
              </a:schemeClr>
            </a:gs>
            <a:gs pos="100000">
              <a:schemeClr val="phClr">
                <a:tint val="5000"/>
              </a:schemeClr>
            </a:gs>
          </a:gsLst>
          <a:path path="circle">
            <a:fillToRect l="50000" t="130000" r="50000" b="-30000"/>
          </a:path>
          <a:tileRect l="0" t="0" r="0" b="0"/>
        </a:gradFill>
        <a:gradFill>
          <a:gsLst>
            <a:gs pos="0">
              <a:schemeClr val="phClr">
                <a:tint val="98000"/>
                <a:shade val="25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tint val="50000"/>
              </a:schemeClr>
            </a:gs>
          </a:gsLst>
          <a:path path="circle">
            <a:fillToRect l="50000" t="130000" r="50000" b="-30000"/>
          </a:path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80000"/>
              </a:schemeClr>
            </a:gs>
            <a:gs pos="25000">
              <a:schemeClr val="phClr">
                <a:tint val="83000"/>
              </a:schemeClr>
            </a:gs>
            <a:gs pos="100000">
              <a:schemeClr val="phClr">
                <a:shade val="15000"/>
              </a:schemeClr>
            </a:gs>
          </a:gsLst>
          <a:path path="circle">
            <a:fillToRect l="10000" t="110000" r="10000" b="100000"/>
          </a:path>
          <a:tileRect l="0" t="0" r="0" b="0"/>
        </a:gradFill>
        <a:blipFill rotWithShape="0">
          <a:blip r:embed="rId1"/>
          <a:srcRect l="0" t="0" r="0" b="0"/>
          <a:tile tx="0" ty="0" sx="65000" sy="65000" flip="none" algn="tl"/>
        </a:blip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1797</TotalTime>
  <Application>LibreOffice/25.8.4.2$Windows_X86_64 LibreOffice_project/290daaa01b999472f0c7a3890eb6a550fd74c6df</Application>
  <AppVersion>15.0000</AppVersion>
  <Words>1069</Words>
  <Paragraphs>156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1601-01-01T00:00:00Z</dcterms:created>
  <dc:creator>astasiak</dc:creator>
  <dc:description/>
  <dc:language>pl-PL</dc:language>
  <cp:lastModifiedBy/>
  <cp:lastPrinted>1601-01-01T00:00:00Z</cp:lastPrinted>
  <dcterms:modified xsi:type="dcterms:W3CDTF">2026-04-03T01:51:12Z</dcterms:modified>
  <cp:revision>234</cp:revision>
  <dc:subject/>
  <dc:title>Prezentacja programu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(4:3)</vt:lpwstr>
  </property>
  <property fmtid="{D5CDD505-2E9C-101B-9397-08002B2CF9AE}" pid="4" name="Slides">
    <vt:i4>63</vt:i4>
  </property>
</Properties>
</file>