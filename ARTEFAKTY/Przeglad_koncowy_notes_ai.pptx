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63" r:id="rId3"/>
  </p:sldMasterIdLst>
  <p:notesMasterIdLst>
    <p:notesMasterId r:id="rId6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przesunąć slajd</a:t>
            </a: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notatek</a:t>
            </a:r>
          </a:p>
        </p:txBody>
      </p:sp>
      <p:sp>
        <p:nvSpPr>
          <p:cNvPr id="29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&lt;główka&gt;</a:t>
            </a:r>
          </a:p>
        </p:txBody>
      </p:sp>
      <p:sp>
        <p:nvSpPr>
          <p:cNvPr id="299" name="PlaceHolder 4"/>
          <p:cNvSpPr>
            <a:spLocks noGrp="1"/>
          </p:cNvSpPr>
          <p:nvPr>
            <p:ph type="dt" idx="5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&lt;data/godzina&gt;</a:t>
            </a:r>
          </a:p>
        </p:txBody>
      </p:sp>
      <p:sp>
        <p:nvSpPr>
          <p:cNvPr id="300" name="PlaceHolder 5"/>
          <p:cNvSpPr>
            <a:spLocks noGrp="1"/>
          </p:cNvSpPr>
          <p:nvPr>
            <p:ph type="ftr" idx="5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301" name="PlaceHolder 6"/>
          <p:cNvSpPr>
            <a:spLocks noGrp="1"/>
          </p:cNvSpPr>
          <p:nvPr>
            <p:ph type="sldNum" idx="5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CAB6BF0-B463-4BC4-AF81-4075E7119364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3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3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3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3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4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4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 Box 1"/>
          <p:cNvSpPr/>
          <p:nvPr/>
        </p:nvSpPr>
        <p:spPr>
          <a:xfrm>
            <a:off x="1440" y="0"/>
            <a:ext cx="720" cy="7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-43560" rIns="90000" bIns="-4356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4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Text Box 1"/>
          <p:cNvSpPr/>
          <p:nvPr/>
        </p:nvSpPr>
        <p:spPr>
          <a:xfrm>
            <a:off x="1440" y="0"/>
            <a:ext cx="720" cy="7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-43560" rIns="90000" bIns="-4356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4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5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5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3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grpSp>
        <p:nvGrpSpPr>
          <p:cNvPr id="4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5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3520" y="1371600"/>
            <a:ext cx="7850880" cy="1828080"/>
          </a:xfrm>
          <a:prstGeom prst="rect">
            <a:avLst/>
          </a:prstGeom>
          <a:noFill/>
          <a:ln w="0">
            <a:noFill/>
          </a:ln>
        </p:spPr>
        <p:txBody>
          <a:bodyPr lIns="0" tIns="0" rIns="18360" bIns="0" numCol="1" spcCol="0" anchor="b">
            <a:normAutofit/>
          </a:bodyPr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600" b="1" u="none" strike="noStrike">
                <a:solidFill>
                  <a:schemeClr val="accent3">
                    <a:tint val="90000"/>
                  </a:schemeClr>
                </a:solidFill>
                <a:effectLst/>
                <a:uFillTx/>
                <a:latin typeface="Calibri"/>
              </a:rPr>
              <a:t>Kliknij, aby edytować styl</a:t>
            </a:r>
            <a:endParaRPr lang="en-US" sz="5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2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sldNum" idx="3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D1EAEE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4BB441A9-2654-4854-9795-39B59F590892}" type="slidenum">
              <a:rPr lang="en-GB" sz="1200" b="0" u="none" strike="noStrike">
                <a:solidFill>
                  <a:srgbClr val="D1EAEE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główek sekcji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12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grpSp>
        <p:nvGrpSpPr>
          <p:cNvPr id="13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4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0280" y="1316880"/>
            <a:ext cx="7771680" cy="136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600" b="1" u="none" strike="noStrike">
                <a:solidFill>
                  <a:schemeClr val="accent4">
                    <a:tint val="90000"/>
                  </a:schemeClr>
                </a:solidFill>
                <a:effectLst/>
                <a:uFillTx/>
                <a:latin typeface="Calibri"/>
              </a:rPr>
              <a:t>Kliknij, aby edytować styl</a:t>
            </a:r>
            <a:endParaRPr lang="en-US" sz="5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30280" y="2704680"/>
            <a:ext cx="7771680" cy="15091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numCol="1" spcCol="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pl-PL" sz="2200" b="0" u="none" strike="noStrike">
                <a:solidFill>
                  <a:schemeClr val="lt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D1EAEE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70BC2598-A86A-46E7-B1FA-2291E7800B17}" type="slidenum">
              <a:rPr lang="en-GB" sz="1200" b="0" u="none" strike="noStrike">
                <a:solidFill>
                  <a:srgbClr val="D1EAEE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2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3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4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A4BE0025-8075-4B4F-9121-3710CA0D653F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awartość z podpisem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2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33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34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5800" y="514440"/>
            <a:ext cx="2742480" cy="116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85800" y="1676520"/>
            <a:ext cx="2742480" cy="4571280"/>
          </a:xfrm>
          <a:prstGeom prst="rect">
            <a:avLst/>
          </a:prstGeom>
          <a:noFill/>
          <a:ln w="0">
            <a:noFill/>
          </a:ln>
        </p:spPr>
        <p:txBody>
          <a:bodyPr lIns="18360" tIns="45720" rIns="18360" bIns="45720" numCol="1" spcCol="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575160" y="1676520"/>
            <a:ext cx="511092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561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51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479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36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11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41" name="PlaceHolder 6"/>
          <p:cNvSpPr>
            <a:spLocks noGrp="1"/>
          </p:cNvSpPr>
          <p:nvPr>
            <p:ph type="sldNum" idx="12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0E9B5639-E21C-4BE7-9038-EA178AC12375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raz z podpisem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Dowolny kształt 6" hidden="1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43" name="Dowolny kształt 7" hidden="1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44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45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7" name="Prostokąt ze ściętym i zaokrąglonym rogiem 13"/>
          <p:cNvSpPr/>
          <p:nvPr/>
        </p:nvSpPr>
        <p:spPr>
          <a:xfrm rot="420000" flipV="1">
            <a:off x="3164760" y="1107720"/>
            <a:ext cx="5257080" cy="411408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>
            <a:solidFill>
              <a:srgbClr val="C0C0C0"/>
            </a:solidFill>
            <a:round/>
          </a:ln>
          <a:effectLst>
            <a:outerShdw blurRad="63360" dist="37750" dir="7494149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48" name="Trójkąt prostokątny 5"/>
          <p:cNvSpPr/>
          <p:nvPr/>
        </p:nvSpPr>
        <p:spPr>
          <a:xfrm rot="420000" flipV="1">
            <a:off x="8003520" y="5358240"/>
            <a:ext cx="154800" cy="15444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bevel/>
          </a:ln>
          <a:effectLst>
            <a:outerShdw blurRad="19800" dist="5692" dir="1288171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6840" rIns="90000" bIns="6840" anchor="ctr">
            <a:noAutofit/>
          </a:bodyPr>
          <a:lstStyle/>
          <a:p>
            <a:pPr algn="ctr"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49" name="Dowolny kształt 6"/>
          <p:cNvSpPr/>
          <p:nvPr/>
        </p:nvSpPr>
        <p:spPr>
          <a:xfrm flipV="1">
            <a:off x="-8640" y="581508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-360 h 1040760"/>
              <a:gd name="textAreaBottom" fmla="*/ 104076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0" name="Dowolny kształt 7"/>
          <p:cNvSpPr/>
          <p:nvPr/>
        </p:nvSpPr>
        <p:spPr>
          <a:xfrm flipV="1">
            <a:off x="4381560" y="621900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-360 h 637560"/>
              <a:gd name="textAreaBottom" fmla="*/ 63756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1176840"/>
            <a:ext cx="2212200" cy="1581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2828880"/>
            <a:ext cx="2208960" cy="2178720"/>
          </a:xfrm>
          <a:prstGeom prst="rect">
            <a:avLst/>
          </a:prstGeom>
          <a:noFill/>
          <a:ln w="0">
            <a:noFill/>
          </a:ln>
        </p:spPr>
        <p:txBody>
          <a:bodyPr lIns="64080" tIns="45720" rIns="45720" bIns="45720" numCol="1" spcCol="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249"/>
              </a:spcBef>
              <a:buNone/>
              <a:tabLst>
                <a:tab pos="0" algn="l"/>
              </a:tabLst>
            </a:pPr>
            <a:r>
              <a:rPr lang="pl-PL" sz="13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 rot="420000">
            <a:off x="3485160" y="1198800"/>
            <a:ext cx="4617000" cy="3931200"/>
          </a:xfrm>
          <a:prstGeom prst="rect">
            <a:avLst/>
          </a:prstGeom>
          <a:solidFill>
            <a:schemeClr val="lt2"/>
          </a:solidFill>
          <a:ln w="2880" cap="rnd">
            <a:solidFill>
              <a:srgbClr val="C0C0C0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marL="228600" indent="0" defTabSz="44928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l-PL" sz="32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Kliknij ikonę, aby dodać obraz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14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56" name="PlaceHolder 6"/>
          <p:cNvSpPr>
            <a:spLocks noGrp="1"/>
          </p:cNvSpPr>
          <p:nvPr>
            <p:ph type="sldNum" idx="15"/>
          </p:nvPr>
        </p:nvSpPr>
        <p:spPr>
          <a:xfrm>
            <a:off x="8077320" y="6356520"/>
            <a:ext cx="6087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B23BF8C0-C8EF-4E36-9D6A-E96C50891998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8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59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60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629400" y="914400"/>
            <a:ext cx="2056680" cy="521100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914400"/>
            <a:ext cx="6019200" cy="52110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17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66" name="PlaceHolder 5"/>
          <p:cNvSpPr>
            <a:spLocks noGrp="1"/>
          </p:cNvSpPr>
          <p:nvPr>
            <p:ph type="sldNum" idx="18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7A8B16CD-57F3-41B2-867A-47135F24E484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68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69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70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1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19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58A95E57-55F1-41B3-B992-BFCD4E5CC642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omyśln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76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77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78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9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ldNum" idx="20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B7A350E0-15DE-44F2-92A9-E4F6C1C7EE91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4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85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86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7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ftr" idx="22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92" name="PlaceHolder 5"/>
          <p:cNvSpPr>
            <a:spLocks noGrp="1"/>
          </p:cNvSpPr>
          <p:nvPr>
            <p:ph type="sldNum" idx="23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B752D59C-4826-4A3A-9ACD-1D1321CC8982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94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95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96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920240"/>
            <a:ext cx="4037760" cy="443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40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36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36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48320" y="1920240"/>
            <a:ext cx="4037760" cy="443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40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36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36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ftr" idx="25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103" name="PlaceHolder 6"/>
          <p:cNvSpPr>
            <a:spLocks noGrp="1"/>
          </p:cNvSpPr>
          <p:nvPr>
            <p:ph type="sldNum" idx="26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0D40C407-5730-42B2-9403-18D0D31BD08E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orównani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05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06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07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57200" y="1855080"/>
            <a:ext cx="4039560" cy="658800"/>
          </a:xfrm>
          <a:prstGeom prst="rect">
            <a:avLst/>
          </a:prstGeom>
          <a:noFill/>
          <a:ln w="0">
            <a:noFill/>
          </a:ln>
        </p:spPr>
        <p:txBody>
          <a:bodyPr lIns="45720" tIns="0" rIns="45720" bIns="0" numCol="1" spcCol="0" anchor="ctr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1" u="none" strike="noStrike">
                <a:solidFill>
                  <a:schemeClr val="dk2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645080" y="1859760"/>
            <a:ext cx="4041000" cy="654120"/>
          </a:xfrm>
          <a:prstGeom prst="rect">
            <a:avLst/>
          </a:prstGeom>
          <a:noFill/>
          <a:ln w="0">
            <a:noFill/>
          </a:ln>
        </p:spPr>
        <p:txBody>
          <a:bodyPr lIns="45720" tIns="0" rIns="45720" bIns="0" numCol="1" spcCol="0" anchor="ctr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1" u="none" strike="noStrike">
                <a:solidFill>
                  <a:schemeClr val="dk2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457200" y="2514600"/>
            <a:ext cx="4039560" cy="384516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43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00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36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32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32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4645080" y="2514600"/>
            <a:ext cx="4041000" cy="384516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43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00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36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32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32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 type="ftr" idx="28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116" name="PlaceHolder 8"/>
          <p:cNvSpPr>
            <a:spLocks noGrp="1"/>
          </p:cNvSpPr>
          <p:nvPr>
            <p:ph type="sldNum" idx="29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355BBA4E-BD73-425B-9E23-552D28DEAF1D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8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19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20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1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704160"/>
            <a:ext cx="8305200" cy="1142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ftr" idx="31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125" name="PlaceHolder 4"/>
          <p:cNvSpPr>
            <a:spLocks noGrp="1"/>
          </p:cNvSpPr>
          <p:nvPr>
            <p:ph type="sldNum" idx="32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9531EECA-08CE-416B-9C19-7E8E5F4187F2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27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28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29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31" name="PlaceHolder 1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ftr" idx="34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133" name="PlaceHolder 3"/>
          <p:cNvSpPr>
            <a:spLocks noGrp="1"/>
          </p:cNvSpPr>
          <p:nvPr>
            <p:ph type="sldNum" idx="35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E3B5EBFF-8F48-417F-9251-68A07785E64B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Kliknij, aby edytować format tekstu tytułu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37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38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39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0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Num" idx="36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15B7A932-BA71-4906-99DF-5B240F64B8C1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45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46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47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8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37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2E31473C-421D-4F05-8208-FA89617FF023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53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54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55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6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ldNum" idx="38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852D57F5-EC4F-4234-AB48-B94851C492C7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1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61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62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63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4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ldNum" idx="39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18E24B7F-7CAE-4E37-B627-F49BE5B95AB0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69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70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71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2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Num" idx="40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57CB9E06-8695-43E4-B7FD-0544271ACDEF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2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77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78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79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0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sldNum" idx="41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A2075659-526E-4EAD-AA58-278F16EA78CD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85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86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87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8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ldNum" idx="42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EE4CE344-7C70-4A05-BF8E-958B5533ABE6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3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93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94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95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6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ldNum" idx="43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23D66CC6-F9FA-403F-9409-0B4B69DBFAB4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9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01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02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03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4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44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3C6C1610-C61E-47DB-BE9D-ECA6B8AB4972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4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09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10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11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2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sldNum" idx="45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BBFBEA31-2EB6-4BEE-8992-23F2090B074D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0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17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18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19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0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ldNum" idx="46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085CD241-5CC8-4D49-8DA8-4D5A12EB902E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5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25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26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27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8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ldNum" idx="47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B1B045C4-1056-4E50-8EE5-6EF5396D6497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6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33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34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35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6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ldNum" idx="48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D537156E-260C-4B12-8BA4-A59CA76B705C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41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42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43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4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ldNum" idx="49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6C771F83-F97F-4781-9DE9-5DE46DC3496A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7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49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50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51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2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ldNum" idx="50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5F4D575F-77BD-4CD7-ACF2-2AEA4EDEB81D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57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58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59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0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sldNum" idx="51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6B24C711-2523-4BE8-A39C-D6C1C5ECA7EC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8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65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66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67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8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sldNum" idx="52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F8E27D16-10F3-422C-B3DC-3091D0D6BAD5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73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74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75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6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sldNum" idx="53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64CC82B8-6EAA-4A83-B28D-D7CB5E817CD5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9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81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82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83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4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ldNum" idx="54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B4D753F7-628B-4670-9421-1D98B57A19A5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omyślny 10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89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90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91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2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sldNum" idx="55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FB46B389-44CC-4062-BF34-90303049661B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58.emf"/><Relationship Id="rId3" Type="http://schemas.openxmlformats.org/officeDocument/2006/relationships/image" Target="../media/image53.emf"/><Relationship Id="rId7" Type="http://schemas.openxmlformats.org/officeDocument/2006/relationships/image" Target="../media/image55.e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7.emf"/><Relationship Id="rId5" Type="http://schemas.openxmlformats.org/officeDocument/2006/relationships/image" Target="../media/image54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Box 1"/>
          <p:cNvSpPr/>
          <p:nvPr/>
        </p:nvSpPr>
        <p:spPr>
          <a:xfrm>
            <a:off x="642960" y="928800"/>
            <a:ext cx="77716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44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Końcowy p</a:t>
            </a:r>
            <a:r>
              <a:rPr lang="en-GB" sz="44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rzegląd projektu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Box 2"/>
          <p:cNvSpPr/>
          <p:nvPr/>
        </p:nvSpPr>
        <p:spPr>
          <a:xfrm>
            <a:off x="571680" y="2428920"/>
            <a:ext cx="8143200" cy="397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Nazwa projektu: NOTES  AI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Zespół wykonawcy w składzie: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 </a:t>
            </a: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Piotr Gugnowski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	2. Adam Dąbkowski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	3. Adrian Cieśla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Box 1"/>
          <p:cNvSpPr/>
          <p:nvPr/>
        </p:nvSpPr>
        <p:spPr>
          <a:xfrm>
            <a:off x="685800" y="609480"/>
            <a:ext cx="77716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Krótka charakterystyka organizacji zamawiającego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Box 2"/>
          <p:cNvSpPr/>
          <p:nvPr/>
        </p:nvSpPr>
        <p:spPr>
          <a:xfrm>
            <a:off x="642960" y="1571760"/>
            <a:ext cx="7771680" cy="42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39840" indent="-339840" defTabSz="449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•"/>
              <a:tabLst>
                <a:tab pos="339840" algn="l"/>
                <a:tab pos="787320" algn="l"/>
                <a:tab pos="1236600" algn="l"/>
                <a:tab pos="1685880" algn="l"/>
                <a:tab pos="2135160" algn="l"/>
                <a:tab pos="2584440" algn="l"/>
                <a:tab pos="3033720" algn="l"/>
                <a:tab pos="3483000" algn="l"/>
                <a:tab pos="3932280" algn="l"/>
                <a:tab pos="4381560" algn="l"/>
                <a:tab pos="4830840" algn="l"/>
                <a:tab pos="5280120" algn="l"/>
                <a:tab pos="5729400" algn="l"/>
                <a:tab pos="6178680" algn="l"/>
                <a:tab pos="6627960" algn="l"/>
                <a:tab pos="7077240" algn="l"/>
                <a:tab pos="7526160" algn="l"/>
                <a:tab pos="7975440" algn="l"/>
                <a:tab pos="8424720" algn="l"/>
                <a:tab pos="8874000" algn="l"/>
                <a:tab pos="9323280" algn="l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Rozproszona grupa użytkowników zrzeszona serwerem discord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9840" indent="-339840" defTabSz="449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•"/>
              <a:tabLst>
                <a:tab pos="339840" algn="l"/>
                <a:tab pos="787320" algn="l"/>
                <a:tab pos="1236600" algn="l"/>
                <a:tab pos="1685880" algn="l"/>
                <a:tab pos="2135160" algn="l"/>
                <a:tab pos="2584440" algn="l"/>
                <a:tab pos="3033720" algn="l"/>
                <a:tab pos="3483000" algn="l"/>
                <a:tab pos="3932280" algn="l"/>
                <a:tab pos="4381560" algn="l"/>
                <a:tab pos="4830840" algn="l"/>
                <a:tab pos="5280120" algn="l"/>
                <a:tab pos="5729400" algn="l"/>
                <a:tab pos="6178680" algn="l"/>
                <a:tab pos="6627960" algn="l"/>
                <a:tab pos="7077240" algn="l"/>
                <a:tab pos="7526160" algn="l"/>
                <a:tab pos="7975440" algn="l"/>
                <a:tab pos="8424720" algn="l"/>
                <a:tab pos="8874000" algn="l"/>
                <a:tab pos="9323280" algn="l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Większość członków tylko doraźnie zainteresowna rozwojem systemów dla grupy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9840" indent="-339840" defTabSz="449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•"/>
              <a:tabLst>
                <a:tab pos="339840" algn="l"/>
                <a:tab pos="787320" algn="l"/>
                <a:tab pos="1236600" algn="l"/>
                <a:tab pos="1685880" algn="l"/>
                <a:tab pos="2135160" algn="l"/>
                <a:tab pos="2584440" algn="l"/>
                <a:tab pos="3033720" algn="l"/>
                <a:tab pos="3483000" algn="l"/>
                <a:tab pos="3932280" algn="l"/>
                <a:tab pos="4381560" algn="l"/>
                <a:tab pos="4830840" algn="l"/>
                <a:tab pos="5280120" algn="l"/>
                <a:tab pos="5729400" algn="l"/>
                <a:tab pos="6178680" algn="l"/>
                <a:tab pos="6627960" algn="l"/>
                <a:tab pos="7077240" algn="l"/>
                <a:tab pos="7526160" algn="l"/>
                <a:tab pos="7975440" algn="l"/>
                <a:tab pos="8424720" algn="l"/>
                <a:tab pos="8874000" algn="l"/>
                <a:tab pos="9323280" algn="l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Głównymi interesariuszami są administratorzy grupy discrod dbający o jakość doświadczenia członków serwera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9840" indent="-339840" defTabSz="449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•"/>
              <a:tabLst>
                <a:tab pos="339840" algn="l"/>
                <a:tab pos="787320" algn="l"/>
                <a:tab pos="1236600" algn="l"/>
                <a:tab pos="1685880" algn="l"/>
                <a:tab pos="2135160" algn="l"/>
                <a:tab pos="2584440" algn="l"/>
                <a:tab pos="3033720" algn="l"/>
                <a:tab pos="3483000" algn="l"/>
                <a:tab pos="3932280" algn="l"/>
                <a:tab pos="4381560" algn="l"/>
                <a:tab pos="4830840" algn="l"/>
                <a:tab pos="5280120" algn="l"/>
                <a:tab pos="5729400" algn="l"/>
                <a:tab pos="6178680" algn="l"/>
                <a:tab pos="6627960" algn="l"/>
                <a:tab pos="7077240" algn="l"/>
                <a:tab pos="7526160" algn="l"/>
                <a:tab pos="7975440" algn="l"/>
                <a:tab pos="8424720" algn="l"/>
                <a:tab pos="8874000" algn="l"/>
                <a:tab pos="9323280" algn="l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Brak sztywnych wymagań co do terminu realizacji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9840" indent="-339840" defTabSz="449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•"/>
              <a:tabLst>
                <a:tab pos="339840" algn="l"/>
                <a:tab pos="787320" algn="l"/>
                <a:tab pos="1236600" algn="l"/>
                <a:tab pos="1685880" algn="l"/>
                <a:tab pos="2135160" algn="l"/>
                <a:tab pos="2584440" algn="l"/>
                <a:tab pos="3033720" algn="l"/>
                <a:tab pos="3483000" algn="l"/>
                <a:tab pos="3932280" algn="l"/>
                <a:tab pos="4381560" algn="l"/>
                <a:tab pos="4830840" algn="l"/>
                <a:tab pos="5280120" algn="l"/>
                <a:tab pos="5729400" algn="l"/>
                <a:tab pos="6178680" algn="l"/>
                <a:tab pos="6627960" algn="l"/>
                <a:tab pos="7077240" algn="l"/>
                <a:tab pos="7526160" algn="l"/>
                <a:tab pos="7975440" algn="l"/>
                <a:tab pos="8424720" algn="l"/>
                <a:tab pos="8874000" algn="l"/>
                <a:tab pos="9323280" algn="l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Zainteresowani chcą usprawnić proces fizycznego notowania i połączyć je z prostą digitalizacją notatek</a:t>
            </a:r>
            <a:br>
              <a:rPr sz="1600"/>
            </a:b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  <a:p>
            <a:pPr marL="339840" indent="-339840" defTabSz="449280">
              <a:lnSpc>
                <a:spcPct val="100000"/>
              </a:lnSpc>
              <a:spcBef>
                <a:spcPts val="275"/>
              </a:spcBef>
              <a:tabLst>
                <a:tab pos="0" algn="l"/>
              </a:tabLst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Box 1"/>
          <p:cNvSpPr/>
          <p:nvPr/>
        </p:nvSpPr>
        <p:spPr>
          <a:xfrm>
            <a:off x="685800" y="609480"/>
            <a:ext cx="7771680" cy="11422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Cel projektu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Box 2"/>
          <p:cNvSpPr/>
          <p:nvPr/>
        </p:nvSpPr>
        <p:spPr>
          <a:xfrm>
            <a:off x="685800" y="1981080"/>
            <a:ext cx="8028720" cy="41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  <a:spcBef>
                <a:spcPts val="45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Celem projektu jest zbudowanie systemu, który umożliwi użytkownikom serwera Discrod łatwą digitalizację notatek pisanych ręcznie. Proces ten musi być jak najmniej uciążliwy.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Box 1"/>
          <p:cNvSpPr/>
          <p:nvPr/>
        </p:nvSpPr>
        <p:spPr>
          <a:xfrm>
            <a:off x="785880" y="428760"/>
            <a:ext cx="7771680" cy="85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32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Żądania Zamawiającego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Box 2"/>
          <p:cNvSpPr/>
          <p:nvPr/>
        </p:nvSpPr>
        <p:spPr>
          <a:xfrm>
            <a:off x="714240" y="1428840"/>
            <a:ext cx="777168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Pierwszym etapem prac ma być opracowanie projektu systemu, który zapewni: 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Stworzenie sprawnego mostu między notowaniem analogowym a cyfrowym archiwum, pozwalającego na zachowanie tradycyjnych metod pracy przy jednoczesnym wykorzystaniu zalet edycji komputerowej i archiwizacji na komputerze. 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Automatyzację procesu kategoryzacji i przetwarzania treści, aby użytkownik nie musiał tracić czasu na ręczne nazywanie plików, ich konwersję i przenoszenie do odpowiednich katalogów. 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Integrację z systemem umożliwiającym przeszukiwanie tworzonej bazy wiedzy, która umożliwi szybki dostęp do myśli i koncepcji zapisanych wcześniej w formie fizycznej.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Możliwość doprecyzowania szczegółów przetwarzania notatki z poziomu ręcznie pisanej notatki.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Box 1"/>
          <p:cNvSpPr/>
          <p:nvPr/>
        </p:nvSpPr>
        <p:spPr>
          <a:xfrm>
            <a:off x="642960" y="642960"/>
            <a:ext cx="7771680" cy="8564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Wymagania na system</a:t>
            </a: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 (FEAT)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1" name="Tabela 3"/>
          <p:cNvGraphicFramePr/>
          <p:nvPr/>
        </p:nvGraphicFramePr>
        <p:xfrm>
          <a:off x="357120" y="2114640"/>
          <a:ext cx="8429040" cy="1076040"/>
        </p:xfrm>
        <a:graphic>
          <a:graphicData uri="http://schemas.openxmlformats.org/drawingml/2006/table">
            <a:tbl>
              <a:tblPr/>
              <a:tblGrid>
                <a:gridCol w="113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FEAT1: 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Reakcja na zdjęcie poniżej 1 sekundy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FEAT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Użytkownik otrzymuje zdigitalizowaną notatkę w rozsądnym czasie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Box 1"/>
          <p:cNvSpPr/>
          <p:nvPr/>
        </p:nvSpPr>
        <p:spPr>
          <a:xfrm>
            <a:off x="642960" y="642960"/>
            <a:ext cx="7771680" cy="8564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Wymagania </a:t>
            </a: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funkcjonalne </a:t>
            </a:r>
            <a:r>
              <a:rPr lang="en-GB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na system</a:t>
            </a: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 (UC)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3" name="Tabela 3"/>
          <p:cNvGraphicFramePr/>
          <p:nvPr/>
        </p:nvGraphicFramePr>
        <p:xfrm>
          <a:off x="357120" y="2114640"/>
          <a:ext cx="8429400" cy="1524240"/>
        </p:xfrm>
        <a:graphic>
          <a:graphicData uri="http://schemas.openxmlformats.org/drawingml/2006/table">
            <a:tbl>
              <a:tblPr/>
              <a:tblGrid>
                <a:gridCol w="113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UC1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: 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Dodanie użytkownika do systemu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1.1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 Skonfigurowanie lokalizacji do zapisu notatki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UC1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Użytkownik łączy konto discord z kontem w systemie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4" name="Tabela 3"/>
          <p:cNvGraphicFramePr/>
          <p:nvPr/>
        </p:nvGraphicFramePr>
        <p:xfrm>
          <a:off x="357120" y="3947400"/>
          <a:ext cx="8429400" cy="1524240"/>
        </p:xfrm>
        <a:graphic>
          <a:graphicData uri="http://schemas.openxmlformats.org/drawingml/2006/table">
            <a:tbl>
              <a:tblPr/>
              <a:tblGrid>
                <a:gridCol w="113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UC2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: 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Przekształcenie notatki analogowej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UC2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.1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Z notatki muszą być wyciąganie tagi techniczne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UC2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W notatce musi być rozpoznana struktura tekstu.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 Box 1"/>
          <p:cNvSpPr/>
          <p:nvPr/>
        </p:nvSpPr>
        <p:spPr>
          <a:xfrm>
            <a:off x="571680" y="428760"/>
            <a:ext cx="8246520" cy="127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Mapowanie żądań na wymagania</a:t>
            </a:r>
            <a:r>
              <a:rPr lang="pl-PL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 </a:t>
            </a:r>
            <a:r>
              <a:rPr lang="en-GB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-</a:t>
            </a:r>
            <a:r>
              <a:rPr lang="pl-PL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 </a:t>
            </a:r>
            <a:r>
              <a:rPr lang="en-GB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macierz</a:t>
            </a:r>
            <a:endParaRPr lang="pl-P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Picture 2"/>
          <p:cNvPicPr/>
          <p:nvPr/>
        </p:nvPicPr>
        <p:blipFill>
          <a:blip r:embed="rId3"/>
          <a:stretch/>
        </p:blipFill>
        <p:spPr>
          <a:xfrm>
            <a:off x="876600" y="1730160"/>
            <a:ext cx="3351960" cy="469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Picture 4"/>
          <p:cNvPicPr/>
          <p:nvPr/>
        </p:nvPicPr>
        <p:blipFill>
          <a:blip r:embed="rId4"/>
          <a:stretch/>
        </p:blipFill>
        <p:spPr>
          <a:xfrm>
            <a:off x="4980600" y="1707840"/>
            <a:ext cx="3286440" cy="4721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Box 1"/>
          <p:cNvSpPr/>
          <p:nvPr/>
        </p:nvSpPr>
        <p:spPr>
          <a:xfrm>
            <a:off x="685800" y="465120"/>
            <a:ext cx="7771680" cy="14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4400" b="0" u="none" strike="noStrike">
                <a:solidFill>
                  <a:srgbClr val="0B5395"/>
                </a:solidFill>
                <a:effectLst/>
                <a:uFillTx/>
                <a:latin typeface="Times New Roman"/>
              </a:rPr>
              <a:t>Specyfikacja wymagań dodatkowych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Box 2"/>
          <p:cNvSpPr/>
          <p:nvPr/>
        </p:nvSpPr>
        <p:spPr>
          <a:xfrm>
            <a:off x="428760" y="2143080"/>
            <a:ext cx="8143200" cy="397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Wymagania użyteczności i ergonomii: Użytkownik otrzymuje zdigitalizowaną notatkę w rozsądnym czasie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4928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Wymagania wydajnościowe: Użytkownik zawsze odczuwa szybką reakcję systemu, Reakcja na zdjęcie poniżej 1 sekundy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4928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Wymagania niezawodnościowe: Podanie przyczyny niemożności stworzenia notatki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Box 1"/>
          <p:cNvSpPr/>
          <p:nvPr/>
        </p:nvSpPr>
        <p:spPr>
          <a:xfrm>
            <a:off x="642960" y="500040"/>
            <a:ext cx="7771680" cy="14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44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Szczegółowa specyfikacja wymagań na system:</a:t>
            </a:r>
            <a:r>
              <a:rPr lang="pl-PL" sz="44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xxx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Box 2"/>
          <p:cNvSpPr/>
          <p:nvPr/>
        </p:nvSpPr>
        <p:spPr>
          <a:xfrm>
            <a:off x="500040" y="2286000"/>
            <a:ext cx="8143200" cy="41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Nazwa projektu:</a:t>
            </a: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Notes AI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Zespół wykonawcy w składzie: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1. Adam Dąbkowski</a:t>
            </a:r>
            <a:br>
              <a:rPr sz="2800"/>
            </a:b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1143000" y="2286000"/>
            <a:ext cx="7771680" cy="100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0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Model </a:t>
            </a:r>
            <a:r>
              <a:rPr lang="pl-PL" sz="50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przypadków użycia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Specyfikacja aktorów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24" name="Picture 2"/>
          <p:cNvPicPr/>
          <p:nvPr/>
        </p:nvPicPr>
        <p:blipFill>
          <a:blip r:embed="rId2"/>
          <a:stretch/>
        </p:blipFill>
        <p:spPr>
          <a:xfrm>
            <a:off x="2124720" y="2566800"/>
            <a:ext cx="4377600" cy="3039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642960" y="285840"/>
            <a:ext cx="7571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Diagram </a:t>
            </a:r>
            <a:r>
              <a:rPr lang="pl-PL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(głównych) przypadków użycia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26" name="Picture 280"/>
          <p:cNvPicPr/>
          <p:nvPr/>
        </p:nvPicPr>
        <p:blipFill>
          <a:blip r:embed="rId3"/>
          <a:stretch/>
        </p:blipFill>
        <p:spPr>
          <a:xfrm>
            <a:off x="1260000" y="1800000"/>
            <a:ext cx="6628680" cy="4616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685800" y="463320"/>
            <a:ext cx="7768440" cy="97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l-PL" sz="28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Administrowanie systemem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28" name="Picture 277"/>
          <p:cNvPicPr/>
          <p:nvPr/>
        </p:nvPicPr>
        <p:blipFill>
          <a:blip r:embed="rId2"/>
          <a:stretch/>
        </p:blipFill>
        <p:spPr>
          <a:xfrm>
            <a:off x="1366560" y="1440000"/>
            <a:ext cx="5833080" cy="487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714240" y="642960"/>
            <a:ext cx="7768440" cy="5374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 anchorCtr="1">
            <a:normAutofit fontScale="90000"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Scenariusz główny dla przypadku użycia </a:t>
            </a:r>
            <a:br>
              <a:rPr sz="3200"/>
            </a:b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“Przetworzyć notatki odręczne do Markdown”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30" name="pole tekstowe 4"/>
          <p:cNvSpPr/>
          <p:nvPr/>
        </p:nvSpPr>
        <p:spPr>
          <a:xfrm>
            <a:off x="428760" y="2274480"/>
            <a:ext cx="8429040" cy="150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spAutoFit/>
          </a:bodyPr>
          <a:lstStyle/>
          <a:p>
            <a:pPr marL="228600" indent="-2286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Użytkownik umieszcza w notatce odręcznej blok tagów technicznych &lt;NOTE&gt;…&lt;/NOTE&gt;.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28600" indent="-2286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W trakcie przetwarzania system wykrywa tagi.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Instrukcje z tagów są przekazywane do modelu AI jako meta-polecenia.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28600" indent="-2286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Model wykonuje dodatkowe operacje (np. podsumowanie, dodanie kategorii, wyodrębnienie cytatów).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28600" indent="-228600">
              <a:lnSpc>
                <a:spcPct val="100000"/>
              </a:lnSpc>
              <a:spcBef>
                <a:spcPts val="567"/>
              </a:spcBef>
              <a:spcAft>
                <a:spcPts val="967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Wynik jest uwzględniony w finalnym pliku Markdown.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714240" y="642960"/>
            <a:ext cx="7768440" cy="5374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 anchorCtr="1">
            <a:normAutofit fontScale="90000"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Scenariusz alternatywny dla przypadku użycia </a:t>
            </a:r>
            <a:br>
              <a:rPr sz="3200"/>
            </a:b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“Sterować zachowaniem AI przy pomocy tagów &lt;NOTE&gt;”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32" name="pole tekstowe 4"/>
          <p:cNvSpPr/>
          <p:nvPr/>
        </p:nvSpPr>
        <p:spPr>
          <a:xfrm>
            <a:off x="428760" y="1597680"/>
            <a:ext cx="8429040" cy="74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defTabSz="4492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W notatce nie ma tagów &lt;NOTE&gt;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683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System pomija krok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683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Kontynuuje normalne przetwarzanie (nie jest to błąd)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1857240" y="571680"/>
            <a:ext cx="585720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aktywności dla przypadku użycia „Sterować  AI za pomocą tagów &lt;NOTE&gt;”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34" name="Obraz 333"/>
          <p:cNvPicPr/>
          <p:nvPr/>
        </p:nvPicPr>
        <p:blipFill>
          <a:blip r:embed="rId2"/>
          <a:stretch/>
        </p:blipFill>
        <p:spPr>
          <a:xfrm>
            <a:off x="1260000" y="1604880"/>
            <a:ext cx="6181920" cy="4515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Box 1"/>
          <p:cNvSpPr/>
          <p:nvPr/>
        </p:nvSpPr>
        <p:spPr>
          <a:xfrm>
            <a:off x="642960" y="500040"/>
            <a:ext cx="7771680" cy="1431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Analiza </a:t>
            </a:r>
            <a:r>
              <a:rPr lang="en-GB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system</a:t>
            </a:r>
            <a:r>
              <a:rPr lang="pl-PL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u</a:t>
            </a:r>
            <a:r>
              <a:rPr lang="en-GB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pl-PL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NOTES-AI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Box 2"/>
          <p:cNvSpPr/>
          <p:nvPr/>
        </p:nvSpPr>
        <p:spPr>
          <a:xfrm>
            <a:off x="500040" y="2286000"/>
            <a:ext cx="8143200" cy="41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Nazwa </a:t>
            </a: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projektu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r>
              <a:rPr lang="pl-PL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NOTES-AI</a:t>
            </a: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Zespół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wykonawcy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w </a:t>
            </a: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składzie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350" indent="-514350" defTabSz="449280">
              <a:lnSpc>
                <a:spcPct val="100000"/>
              </a:lnSpc>
              <a:spcBef>
                <a:spcPts val="601"/>
              </a:spcBef>
              <a:buAutoNum type="arabicPeriod"/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Piotr </a:t>
            </a:r>
            <a:r>
              <a:rPr lang="pl-PL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Gugnowski</a:t>
            </a: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514350" indent="-514350" defTabSz="449280">
              <a:lnSpc>
                <a:spcPct val="100000"/>
              </a:lnSpc>
              <a:spcBef>
                <a:spcPts val="601"/>
              </a:spcBef>
              <a:buAutoNum type="arabicPeriod"/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800" dirty="0">
                <a:solidFill>
                  <a:srgbClr val="000000"/>
                </a:solidFill>
                <a:latin typeface="Times New Roman"/>
              </a:rPr>
              <a:t>Adrian Cieśla</a:t>
            </a:r>
            <a:br>
              <a:rPr lang="pl-PL" sz="2800" dirty="0"/>
            </a:b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 Box 2"/>
          <p:cNvSpPr/>
          <p:nvPr/>
        </p:nvSpPr>
        <p:spPr>
          <a:xfrm>
            <a:off x="428760" y="1357200"/>
            <a:ext cx="676980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49280">
              <a:lnSpc>
                <a:spcPct val="100000"/>
              </a:lnSpc>
            </a:pPr>
            <a:r>
              <a:rPr lang="pl-PL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Realizacje usług systemu Przekształcanie notatki: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5"/>
          <p:cNvSpPr/>
          <p:nvPr/>
        </p:nvSpPr>
        <p:spPr>
          <a:xfrm>
            <a:off x="1190520" y="2362320"/>
            <a:ext cx="914328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sp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1714680" y="571680"/>
            <a:ext cx="585720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realizacji przypadków użycia 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40" name="Picture 2"/>
          <p:cNvPicPr/>
          <p:nvPr/>
        </p:nvPicPr>
        <p:blipFill>
          <a:blip r:embed="rId2"/>
          <a:stretch/>
        </p:blipFill>
        <p:spPr>
          <a:xfrm>
            <a:off x="1714680" y="1901520"/>
            <a:ext cx="5439240" cy="4629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Box 2"/>
          <p:cNvSpPr/>
          <p:nvPr/>
        </p:nvSpPr>
        <p:spPr>
          <a:xfrm>
            <a:off x="428760" y="1357200"/>
            <a:ext cx="694368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49280">
              <a:lnSpc>
                <a:spcPct val="100000"/>
              </a:lnSpc>
            </a:pPr>
            <a:r>
              <a:rPr lang="pl-PL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Realizacje usług systemu Administracja systemem: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5"/>
          <p:cNvSpPr/>
          <p:nvPr/>
        </p:nvSpPr>
        <p:spPr>
          <a:xfrm>
            <a:off x="1190520" y="2362320"/>
            <a:ext cx="914328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sp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1714680" y="571680"/>
            <a:ext cx="585720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realizacji przypadków użycia 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44" name="Picture 3"/>
          <p:cNvPicPr/>
          <p:nvPr/>
        </p:nvPicPr>
        <p:blipFill>
          <a:blip r:embed="rId2"/>
          <a:stretch/>
        </p:blipFill>
        <p:spPr>
          <a:xfrm>
            <a:off x="1683000" y="1867320"/>
            <a:ext cx="5028120" cy="4424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2466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32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Diagramy VOPC dla realizacji przypadków użycia Przekształcenie notatki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Przetworzyć notatki odręczne do Markdown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47" name="Picture 2"/>
          <p:cNvPicPr/>
          <p:nvPr/>
        </p:nvPicPr>
        <p:blipFill>
          <a:blip r:embed="rId2"/>
          <a:stretch/>
        </p:blipFill>
        <p:spPr>
          <a:xfrm>
            <a:off x="2500200" y="1704600"/>
            <a:ext cx="4143600" cy="3448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Sterować zachowaniem AI za pomocą tagów &lt;NOTE&gt;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49" name="Picture 3"/>
          <p:cNvPicPr/>
          <p:nvPr/>
        </p:nvPicPr>
        <p:blipFill>
          <a:blip r:embed="rId2"/>
          <a:stretch/>
        </p:blipFill>
        <p:spPr>
          <a:xfrm>
            <a:off x="2633400" y="1657080"/>
            <a:ext cx="3876840" cy="3543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Otrzymać potwierdzenie przetworzenia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51" name="Picture 2"/>
          <p:cNvPicPr/>
          <p:nvPr/>
        </p:nvPicPr>
        <p:blipFill>
          <a:blip r:embed="rId2"/>
          <a:stretch/>
        </p:blipFill>
        <p:spPr>
          <a:xfrm>
            <a:off x="2118960" y="1652400"/>
            <a:ext cx="4905720" cy="3552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Wysłać notatki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53" name="Picture 3"/>
          <p:cNvPicPr/>
          <p:nvPr/>
        </p:nvPicPr>
        <p:blipFill>
          <a:blip r:embed="rId2"/>
          <a:stretch/>
        </p:blipFill>
        <p:spPr>
          <a:xfrm>
            <a:off x="1704600" y="1766520"/>
            <a:ext cx="5734440" cy="3324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2466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32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Diagramy VOPC dla realizacji przypadków użycia Administacja systemem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Dodanie użytkownika do systemu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56" name="Picture 2"/>
          <p:cNvPicPr/>
          <p:nvPr/>
        </p:nvPicPr>
        <p:blipFill>
          <a:blip r:embed="rId2"/>
          <a:stretch/>
        </p:blipFill>
        <p:spPr>
          <a:xfrm>
            <a:off x="2133360" y="1528560"/>
            <a:ext cx="4877280" cy="3800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Skonfigurować lokalizację zapisu notatek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58" name="Picture 3"/>
          <p:cNvPicPr/>
          <p:nvPr/>
        </p:nvPicPr>
        <p:blipFill>
          <a:blip r:embed="rId2"/>
          <a:stretch/>
        </p:blipFill>
        <p:spPr>
          <a:xfrm>
            <a:off x="2033280" y="1528560"/>
            <a:ext cx="5077080" cy="3800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Skonfigurować token Discord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60" name="Picture 2"/>
          <p:cNvPicPr/>
          <p:nvPr/>
        </p:nvPicPr>
        <p:blipFill>
          <a:blip r:embed="rId2"/>
          <a:stretch/>
        </p:blipFill>
        <p:spPr>
          <a:xfrm>
            <a:off x="2290320" y="1895400"/>
            <a:ext cx="4562640" cy="3067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Wybór modelu AI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62" name="Picture 3"/>
          <p:cNvPicPr/>
          <p:nvPr/>
        </p:nvPicPr>
        <p:blipFill>
          <a:blip r:embed="rId2"/>
          <a:stretch/>
        </p:blipFill>
        <p:spPr>
          <a:xfrm>
            <a:off x="2057040" y="2004840"/>
            <a:ext cx="5029560" cy="2847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Definicje klas analitycznych (opis)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64" name="TextBox 8"/>
          <p:cNvSpPr/>
          <p:nvPr/>
        </p:nvSpPr>
        <p:spPr>
          <a:xfrm>
            <a:off x="1189800" y="1795680"/>
            <a:ext cx="6549840" cy="369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DaneDiscord Bot: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Ma możliwość dodawania użytkowników do systemu NOTES-AI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Discord serwer: Ruch grupy Filozofowie Analogowi się tu odbywa.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Lokalizacja zapisu notatek Markdown: MIejsce, z którego użytkownik będzie przeglądał notatki w programie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ObsidianObsidian: Aplikacja do przeglądania notatek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Użytkownik: Użytkownik systemu NOTES-AIZaplecze systemu notes AI: Zaplecze Notes AI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Definicje klas analitycznych (opis cd.)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66" name="TextBox 8"/>
          <p:cNvSpPr/>
          <p:nvPr/>
        </p:nvSpPr>
        <p:spPr>
          <a:xfrm>
            <a:off x="312120" y="1148040"/>
            <a:ext cx="8056800" cy="50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Dane Aplikacja 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Obsidian: Aplikacja Obsidian, na której użytkownik może wyświetlić notatkę Markdown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Bot Discord: Bot śledzący aktywność na serwerze discord, reaguje na wgrane zdjęcia.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Kolejka zdjęć: Przechowuje w odpowiedniej kolejości zdjęcia wgrywane do zaplecza systemu w celu przetworzenia bezprzeciążenia infrastruktury.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Notatka analogowa: Zdjęcie notatki ręcznie napisanej przez użytkownika systemu.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Notatka Markdown: Zdigitalizowana notatka użytkownika po obsłużeniu przez system NOTES-AI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Silnik do inferencji dużych modeli językowych: Silnik do inferencji LLM, np. Ollama, przetwarza zdjecia na markdown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Użytkownik: Wgrywa zdjęcia notatek do systemu NOTES-AI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Zaplecze przetwarzające notatki: Zaplecze systemu NOTES-AI z całą niewidoczną infrastrukturą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Klasy analityczne administracji systemem(diagram)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68" name="Picture 2"/>
          <p:cNvPicPr/>
          <p:nvPr/>
        </p:nvPicPr>
        <p:blipFill>
          <a:blip r:embed="rId2"/>
          <a:stretch/>
        </p:blipFill>
        <p:spPr>
          <a:xfrm>
            <a:off x="785880" y="1547640"/>
            <a:ext cx="7672680" cy="4484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Klasy analityczne obszaru przekształcenia notatki(diagram)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70" name="Picture 3"/>
          <p:cNvPicPr/>
          <p:nvPr/>
        </p:nvPicPr>
        <p:blipFill>
          <a:blip r:embed="rId2"/>
          <a:stretch/>
        </p:blipFill>
        <p:spPr>
          <a:xfrm>
            <a:off x="773640" y="1635480"/>
            <a:ext cx="7381800" cy="4003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893340" y="1014616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 dirty="0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sekwencji dla realizacji przypadku użycia Od zdję</a:t>
            </a:r>
            <a:r>
              <a:rPr lang="pl-PL" sz="2400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ć do notatki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0AD36830-B956-87E2-6A05-76D584ADC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9832"/>
            <a:ext cx="9144000" cy="424355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893160" y="2470320"/>
            <a:ext cx="7357320" cy="1746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36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Diagramy komunikacji dla realizacji przypadków użycia Przekształcenie notatki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Przetworzyć notatki odręczne do Markdown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74" name="Picture 2"/>
          <p:cNvPicPr/>
          <p:nvPr/>
        </p:nvPicPr>
        <p:blipFill>
          <a:blip r:embed="rId2"/>
          <a:stretch/>
        </p:blipFill>
        <p:spPr>
          <a:xfrm>
            <a:off x="289800" y="1085400"/>
            <a:ext cx="8563680" cy="4686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Sterować zachowaniem AI za pomocą tagów &lt;NOTE&gt;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76" name="Picture 3"/>
          <p:cNvPicPr/>
          <p:nvPr/>
        </p:nvPicPr>
        <p:blipFill>
          <a:blip r:embed="rId2"/>
          <a:stretch/>
        </p:blipFill>
        <p:spPr>
          <a:xfrm>
            <a:off x="1466280" y="1171440"/>
            <a:ext cx="6210720" cy="4515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Otrzymać potwierdzenie przetworzenia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78" name="Picture 2"/>
          <p:cNvPicPr/>
          <p:nvPr/>
        </p:nvPicPr>
        <p:blipFill>
          <a:blip r:embed="rId2"/>
          <a:stretch/>
        </p:blipFill>
        <p:spPr>
          <a:xfrm>
            <a:off x="923400" y="1109160"/>
            <a:ext cx="7296840" cy="4638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Wysłać notatki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80" name="Picture 3"/>
          <p:cNvPicPr/>
          <p:nvPr/>
        </p:nvPicPr>
        <p:blipFill>
          <a:blip r:embed="rId2"/>
          <a:stretch/>
        </p:blipFill>
        <p:spPr>
          <a:xfrm>
            <a:off x="1032840" y="1128240"/>
            <a:ext cx="7077600" cy="4600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893160" y="2470320"/>
            <a:ext cx="7357320" cy="1746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36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Diagramy komunikacji dla realizacji przypadków użycia Administracji systemem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Dodanie użytkownika do systemu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83" name="Picture 2"/>
          <p:cNvPicPr/>
          <p:nvPr/>
        </p:nvPicPr>
        <p:blipFill>
          <a:blip r:embed="rId2"/>
          <a:stretch/>
        </p:blipFill>
        <p:spPr>
          <a:xfrm>
            <a:off x="1018800" y="1104480"/>
            <a:ext cx="7106400" cy="4648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Skonfigurować lokalizację zapisu notatek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85" name="Picture 3"/>
          <p:cNvPicPr/>
          <p:nvPr/>
        </p:nvPicPr>
        <p:blipFill>
          <a:blip r:embed="rId2"/>
          <a:stretch/>
        </p:blipFill>
        <p:spPr>
          <a:xfrm>
            <a:off x="1061640" y="1190160"/>
            <a:ext cx="7020720" cy="4476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Skonfigurować ścieżkę do Obsidian Vault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87" name="Picture 2"/>
          <p:cNvPicPr/>
          <p:nvPr/>
        </p:nvPicPr>
        <p:blipFill>
          <a:blip r:embed="rId2"/>
          <a:stretch/>
        </p:blipFill>
        <p:spPr>
          <a:xfrm>
            <a:off x="1418760" y="1199880"/>
            <a:ext cx="6306120" cy="4457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Skonfigurować token Discord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89" name="Picture 3"/>
          <p:cNvPicPr/>
          <p:nvPr/>
        </p:nvPicPr>
        <p:blipFill>
          <a:blip r:embed="rId2"/>
          <a:stretch/>
        </p:blipFill>
        <p:spPr>
          <a:xfrm>
            <a:off x="1228320" y="1004400"/>
            <a:ext cx="6687000" cy="4848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Wybór modelu AI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91" name="Picture 2"/>
          <p:cNvPicPr/>
          <p:nvPr/>
        </p:nvPicPr>
        <p:blipFill>
          <a:blip r:embed="rId2"/>
          <a:stretch/>
        </p:blipFill>
        <p:spPr>
          <a:xfrm>
            <a:off x="723240" y="1080720"/>
            <a:ext cx="7696800" cy="4696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 Box 1"/>
          <p:cNvSpPr/>
          <p:nvPr/>
        </p:nvSpPr>
        <p:spPr>
          <a:xfrm>
            <a:off x="642960" y="500040"/>
            <a:ext cx="7771680" cy="1431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4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Projektowanie </a:t>
            </a:r>
            <a:r>
              <a:rPr lang="en-GB" sz="4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system</a:t>
            </a:r>
            <a:r>
              <a:rPr lang="pl-PL" sz="4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u NOTES-AI </a:t>
            </a:r>
            <a:r>
              <a:rPr lang="en-GB" sz="4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l-PL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Box 2"/>
          <p:cNvSpPr/>
          <p:nvPr/>
        </p:nvSpPr>
        <p:spPr>
          <a:xfrm>
            <a:off x="500040" y="2286000"/>
            <a:ext cx="8143200" cy="41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49280"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Nazwa </a:t>
            </a: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projektu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</a:t>
            </a:r>
            <a:r>
              <a:rPr lang="pl-PL" sz="2800">
                <a:solidFill>
                  <a:srgbClr val="000000"/>
                </a:solidFill>
                <a:latin typeface="Times New Roman"/>
              </a:rPr>
              <a:t>NOTES-AI</a:t>
            </a: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Zespół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wykonawcy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w </a:t>
            </a: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składzie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1. </a:t>
            </a:r>
            <a:r>
              <a:rPr lang="pl-PL" sz="2800" dirty="0">
                <a:solidFill>
                  <a:srgbClr val="000000"/>
                </a:solidFill>
                <a:latin typeface="Times New Roman"/>
              </a:rPr>
              <a:t>Piotr </a:t>
            </a:r>
            <a:r>
              <a:rPr lang="pl-PL" sz="2800" dirty="0" err="1">
                <a:solidFill>
                  <a:srgbClr val="000000"/>
                </a:solidFill>
                <a:latin typeface="Times New Roman"/>
              </a:rPr>
              <a:t>Gugnowski</a:t>
            </a:r>
            <a:endParaRPr lang="pl-PL" sz="2800" dirty="0">
              <a:solidFill>
                <a:srgbClr val="000000"/>
              </a:solidFill>
              <a:latin typeface="Times New Roman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800" dirty="0">
                <a:solidFill>
                  <a:srgbClr val="000000"/>
                </a:solidFill>
                <a:latin typeface="Times New Roman"/>
              </a:rPr>
              <a:t>2. Adam Dąbkowski</a:t>
            </a: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800" dirty="0">
                <a:solidFill>
                  <a:srgbClr val="000000"/>
                </a:solidFill>
                <a:latin typeface="Times New Roman"/>
              </a:rPr>
              <a:t>3. Adrian Cieśla</a:t>
            </a:r>
            <a:br>
              <a:rPr sz="2800" dirty="0"/>
            </a:b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pl-PL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 Interfejsy - Przekształcenie notatki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95" name="Picture 2"/>
          <p:cNvPicPr/>
          <p:nvPr/>
        </p:nvPicPr>
        <p:blipFill>
          <a:blip r:embed="rId2"/>
          <a:stretch/>
        </p:blipFill>
        <p:spPr>
          <a:xfrm>
            <a:off x="1872720" y="1373760"/>
            <a:ext cx="5518080" cy="478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 Interfejsy - Administracja systemem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97" name="Picture 3"/>
          <p:cNvPicPr/>
          <p:nvPr/>
        </p:nvPicPr>
        <p:blipFill>
          <a:blip r:embed="rId2"/>
          <a:stretch/>
        </p:blipFill>
        <p:spPr>
          <a:xfrm>
            <a:off x="1953720" y="1701720"/>
            <a:ext cx="5236200" cy="4599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 Logika Aplikacji – Zarządzanie systemem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99" name="Picture 2"/>
          <p:cNvPicPr/>
          <p:nvPr/>
        </p:nvPicPr>
        <p:blipFill>
          <a:blip r:embed="rId2"/>
          <a:stretch/>
        </p:blipFill>
        <p:spPr>
          <a:xfrm>
            <a:off x="1576080" y="1076040"/>
            <a:ext cx="5376960" cy="4222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 Logika Aplikacji – Przekształcanie zdjęcia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01" name="Picture 3"/>
          <p:cNvPicPr/>
          <p:nvPr/>
        </p:nvPicPr>
        <p:blipFill>
          <a:blip r:embed="rId2"/>
          <a:stretch/>
        </p:blipFill>
        <p:spPr>
          <a:xfrm>
            <a:off x="1390320" y="1090440"/>
            <a:ext cx="6363360" cy="4677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 Dane Adminisrtacja Systemem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03" name="Picture 2"/>
          <p:cNvPicPr/>
          <p:nvPr/>
        </p:nvPicPr>
        <p:blipFill>
          <a:blip r:embed="rId2"/>
          <a:stretch/>
        </p:blipFill>
        <p:spPr>
          <a:xfrm>
            <a:off x="1013760" y="1485720"/>
            <a:ext cx="7129440" cy="4672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 Dane Przekształcanie notatki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05" name="Picture 2"/>
          <p:cNvPicPr/>
          <p:nvPr/>
        </p:nvPicPr>
        <p:blipFill>
          <a:blip r:embed="rId2"/>
          <a:stretch/>
        </p:blipFill>
        <p:spPr>
          <a:xfrm>
            <a:off x="1187280" y="1735200"/>
            <a:ext cx="6571800" cy="4438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07" name="Picture 4"/>
          <p:cNvPicPr/>
          <p:nvPr/>
        </p:nvPicPr>
        <p:blipFill>
          <a:blip r:embed="rId2"/>
          <a:stretch/>
        </p:blipFill>
        <p:spPr>
          <a:xfrm>
            <a:off x="1460160" y="1080720"/>
            <a:ext cx="5679000" cy="252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8" name="Picture 6"/>
          <p:cNvPicPr/>
          <p:nvPr/>
        </p:nvPicPr>
        <p:blipFill>
          <a:blip r:embed="rId3"/>
          <a:stretch/>
        </p:blipFill>
        <p:spPr>
          <a:xfrm>
            <a:off x="1460160" y="3609720"/>
            <a:ext cx="5679000" cy="2860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 cd.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10" name="Picture 2"/>
          <p:cNvPicPr/>
          <p:nvPr/>
        </p:nvPicPr>
        <p:blipFill>
          <a:blip r:embed="rId2"/>
          <a:stretch/>
        </p:blipFill>
        <p:spPr>
          <a:xfrm>
            <a:off x="1318680" y="1117440"/>
            <a:ext cx="6506280" cy="156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1" name="Picture 5"/>
          <p:cNvPicPr/>
          <p:nvPr/>
        </p:nvPicPr>
        <p:blipFill>
          <a:blip r:embed="rId3"/>
          <a:stretch/>
        </p:blipFill>
        <p:spPr>
          <a:xfrm>
            <a:off x="1318680" y="2679840"/>
            <a:ext cx="6506280" cy="2523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 cd.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13" name="Picture 3"/>
          <p:cNvPicPr/>
          <p:nvPr/>
        </p:nvPicPr>
        <p:blipFill>
          <a:blip r:embed="rId2"/>
          <a:stretch/>
        </p:blipFill>
        <p:spPr>
          <a:xfrm>
            <a:off x="1254240" y="1062000"/>
            <a:ext cx="6420240" cy="218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4" name="Picture 6"/>
          <p:cNvPicPr/>
          <p:nvPr/>
        </p:nvPicPr>
        <p:blipFill>
          <a:blip r:embed="rId3"/>
          <a:stretch/>
        </p:blipFill>
        <p:spPr>
          <a:xfrm>
            <a:off x="1312200" y="3243240"/>
            <a:ext cx="6304680" cy="2312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 cd.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16" name="Picture 2"/>
          <p:cNvPicPr/>
          <p:nvPr/>
        </p:nvPicPr>
        <p:blipFill>
          <a:blip r:embed="rId2"/>
          <a:stretch/>
        </p:blipFill>
        <p:spPr>
          <a:xfrm>
            <a:off x="1309320" y="1069920"/>
            <a:ext cx="6525000" cy="32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7" name="Picture 5"/>
          <p:cNvPicPr/>
          <p:nvPr/>
        </p:nvPicPr>
        <p:blipFill>
          <a:blip r:embed="rId3"/>
          <a:stretch/>
        </p:blipFill>
        <p:spPr>
          <a:xfrm>
            <a:off x="1309320" y="4327920"/>
            <a:ext cx="6528960" cy="1227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 cd.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19" name="Picture 3"/>
          <p:cNvPicPr/>
          <p:nvPr/>
        </p:nvPicPr>
        <p:blipFill>
          <a:blip r:embed="rId2"/>
          <a:stretch/>
        </p:blipFill>
        <p:spPr>
          <a:xfrm>
            <a:off x="1492560" y="1130040"/>
            <a:ext cx="5943960" cy="186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0" name="Picture 6"/>
          <p:cNvPicPr/>
          <p:nvPr/>
        </p:nvPicPr>
        <p:blipFill>
          <a:blip r:embed="rId3"/>
          <a:stretch/>
        </p:blipFill>
        <p:spPr>
          <a:xfrm>
            <a:off x="1492560" y="3044880"/>
            <a:ext cx="5946840" cy="3384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 cd.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22" name="Picture 2"/>
          <p:cNvPicPr/>
          <p:nvPr/>
        </p:nvPicPr>
        <p:blipFill>
          <a:blip r:embed="rId2"/>
          <a:stretch/>
        </p:blipFill>
        <p:spPr>
          <a:xfrm>
            <a:off x="1753920" y="1183320"/>
            <a:ext cx="5409000" cy="75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3" name="Picture 5"/>
          <p:cNvPicPr/>
          <p:nvPr/>
        </p:nvPicPr>
        <p:blipFill>
          <a:blip r:embed="rId3"/>
          <a:stretch/>
        </p:blipFill>
        <p:spPr>
          <a:xfrm>
            <a:off x="1760040" y="1935360"/>
            <a:ext cx="5409000" cy="469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stanów do obiektu klasy xxx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 dirty="0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pakietów: model warstw systemu, każda warstwa podzielona zgodnie z modelem obszarów systemu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2A43D-138C-4144-F3FB-DD974D644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013" y="1866819"/>
            <a:ext cx="4349974" cy="312436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komponentów systemu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27" name="Obraz 426"/>
          <p:cNvPicPr/>
          <p:nvPr/>
        </p:nvPicPr>
        <p:blipFill>
          <a:blip r:embed="rId2"/>
          <a:stretch/>
        </p:blipFill>
        <p:spPr>
          <a:xfrm>
            <a:off x="360000" y="1620000"/>
            <a:ext cx="7920000" cy="4146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wdrożenia systemu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29" name="Obraz 428"/>
          <p:cNvPicPr/>
          <p:nvPr/>
        </p:nvPicPr>
        <p:blipFill>
          <a:blip r:embed="rId2"/>
          <a:stretch/>
        </p:blipFill>
        <p:spPr>
          <a:xfrm>
            <a:off x="180000" y="1131120"/>
            <a:ext cx="8545320" cy="4808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Kod systemu: jako wynik transformacji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aphicFrame>
        <p:nvGraphicFramePr>
          <p:cNvPr id="2" name="Obiekt 1">
            <a:extLst>
              <a:ext uri="{FF2B5EF4-FFF2-40B4-BE49-F238E27FC236}">
                <a16:creationId xmlns:a16="http://schemas.microsoft.com/office/drawing/2014/main" id="{A43C03BD-0A77-F732-491C-959CACE9E6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768354"/>
              </p:ext>
            </p:extLst>
          </p:nvPr>
        </p:nvGraphicFramePr>
        <p:xfrm>
          <a:off x="3127375" y="1903413"/>
          <a:ext cx="9048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2" imgW="904825" imgH="514350" progId="Package">
                  <p:embed/>
                </p:oleObj>
              </mc:Choice>
              <mc:Fallback>
                <p:oleObj name="Obiekt powłoki pakowarki" showAsIcon="1" r:id="rId2" imgW="90482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27375" y="1903413"/>
                        <a:ext cx="9048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iekt 2">
            <a:extLst>
              <a:ext uri="{FF2B5EF4-FFF2-40B4-BE49-F238E27FC236}">
                <a16:creationId xmlns:a16="http://schemas.microsoft.com/office/drawing/2014/main" id="{85A6C0AE-F71B-2F56-D6C4-FACF0CBA01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479784"/>
              </p:ext>
            </p:extLst>
          </p:nvPr>
        </p:nvGraphicFramePr>
        <p:xfrm>
          <a:off x="860425" y="1903413"/>
          <a:ext cx="22669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4" imgW="2266850" imgH="514350" progId="Package">
                  <p:embed/>
                </p:oleObj>
              </mc:Choice>
              <mc:Fallback>
                <p:oleObj name="Obiekt powłoki pakowarki" showAsIcon="1" r:id="rId4" imgW="226685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0425" y="1903413"/>
                        <a:ext cx="22669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iekt 3">
            <a:extLst>
              <a:ext uri="{FF2B5EF4-FFF2-40B4-BE49-F238E27FC236}">
                <a16:creationId xmlns:a16="http://schemas.microsoft.com/office/drawing/2014/main" id="{2AE2DCAB-E510-8B0D-1203-7FC03FFB41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017238"/>
              </p:ext>
            </p:extLst>
          </p:nvPr>
        </p:nvGraphicFramePr>
        <p:xfrm>
          <a:off x="981011" y="3950273"/>
          <a:ext cx="20478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6" imgW="2048065" imgH="514350" progId="Package">
                  <p:embed/>
                </p:oleObj>
              </mc:Choice>
              <mc:Fallback>
                <p:oleObj name="Obiekt powłoki pakowarki" showAsIcon="1" r:id="rId6" imgW="204806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1011" y="3950273"/>
                        <a:ext cx="20478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iekt 4">
            <a:extLst>
              <a:ext uri="{FF2B5EF4-FFF2-40B4-BE49-F238E27FC236}">
                <a16:creationId xmlns:a16="http://schemas.microsoft.com/office/drawing/2014/main" id="{A0F5560B-FE83-EEB3-E2CC-45BBC79CA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118681"/>
              </p:ext>
            </p:extLst>
          </p:nvPr>
        </p:nvGraphicFramePr>
        <p:xfrm>
          <a:off x="1169987" y="3441193"/>
          <a:ext cx="1647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8" imgW="1647835" imgH="514350" progId="Package">
                  <p:embed/>
                </p:oleObj>
              </mc:Choice>
              <mc:Fallback>
                <p:oleObj name="Obiekt powłoki pakowarki" showAsIcon="1" r:id="rId8" imgW="164783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69987" y="3441193"/>
                        <a:ext cx="16478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iekt 5">
            <a:extLst>
              <a:ext uri="{FF2B5EF4-FFF2-40B4-BE49-F238E27FC236}">
                <a16:creationId xmlns:a16="http://schemas.microsoft.com/office/drawing/2014/main" id="{EA7B192D-C275-CD6B-8DEE-AD59BAACF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16215"/>
              </p:ext>
            </p:extLst>
          </p:nvPr>
        </p:nvGraphicFramePr>
        <p:xfrm>
          <a:off x="1193800" y="2926843"/>
          <a:ext cx="16002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10" imgW="1600439" imgH="514350" progId="Package">
                  <p:embed/>
                </p:oleObj>
              </mc:Choice>
              <mc:Fallback>
                <p:oleObj name="Obiekt powłoki pakowarki" showAsIcon="1" r:id="rId10" imgW="160043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93800" y="2926843"/>
                        <a:ext cx="16002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iekt 6">
            <a:extLst>
              <a:ext uri="{FF2B5EF4-FFF2-40B4-BE49-F238E27FC236}">
                <a16:creationId xmlns:a16="http://schemas.microsoft.com/office/drawing/2014/main" id="{8BDB985A-0737-2356-475B-0A1D65872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356962"/>
              </p:ext>
            </p:extLst>
          </p:nvPr>
        </p:nvGraphicFramePr>
        <p:xfrm>
          <a:off x="1300099" y="2417763"/>
          <a:ext cx="1409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12" imgW="1409899" imgH="514350" progId="Package">
                  <p:embed/>
                </p:oleObj>
              </mc:Choice>
              <mc:Fallback>
                <p:oleObj name="Obiekt powłoki pakowarki" showAsIcon="1" r:id="rId12" imgW="140989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00099" y="2417763"/>
                        <a:ext cx="14097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zepływ">
  <a:themeElements>
    <a:clrScheme name="Przepły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Przepływ">
      <a:majorFont>
        <a:latin typeface="Calibri"/>
        <a:ea typeface=""/>
        <a:cs typeface=""/>
      </a:majorFont>
      <a:minorFont>
        <a:latin typeface="Constantia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/>
        </a:gradFill>
        <a:blipFill rotWithShape="0">
          <a:blip xmlns:r="http://schemas.openxmlformats.org/officeDocument/2006/relationships" r:embed="rId1"/>
          <a:srcRect/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zepływ">
  <a:themeElements>
    <a:clrScheme name="Przepły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Przepływ">
      <a:majorFont>
        <a:latin typeface="Calibri"/>
        <a:ea typeface=""/>
        <a:cs typeface=""/>
      </a:majorFont>
      <a:minorFont>
        <a:latin typeface="Constantia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/>
        </a:gradFill>
        <a:blipFill rotWithShape="0">
          <a:blip xmlns:r="http://schemas.openxmlformats.org/officeDocument/2006/relationships" r:embed="rId1"/>
          <a:srcRect/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zepływ">
  <a:themeElements>
    <a:clrScheme name="Przepły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Przepływ">
      <a:majorFont>
        <a:latin typeface="Calibri"/>
        <a:ea typeface=""/>
        <a:cs typeface=""/>
      </a:majorFont>
      <a:minorFont>
        <a:latin typeface="Constantia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/>
        </a:gradFill>
        <a:blipFill rotWithShape="0">
          <a:blip xmlns:r="http://schemas.openxmlformats.org/officeDocument/2006/relationships" r:embed="rId1"/>
          <a:srcRect/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1910</TotalTime>
  <Words>1077</Words>
  <Application>Microsoft Office PowerPoint</Application>
  <PresentationFormat>On-screen Show (4:3)</PresentationFormat>
  <Paragraphs>157</Paragraphs>
  <Slides>63</Slides>
  <Notes>11</Notes>
  <HiddenSlides>1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5" baseType="lpstr">
      <vt:lpstr>OpenSymbol</vt:lpstr>
      <vt:lpstr>Arial</vt:lpstr>
      <vt:lpstr>Calibri</vt:lpstr>
      <vt:lpstr>Constantia</vt:lpstr>
      <vt:lpstr>Symbol</vt:lpstr>
      <vt:lpstr>Times New Roman</vt:lpstr>
      <vt:lpstr>Wingdings</vt:lpstr>
      <vt:lpstr>Wingdings 2</vt:lpstr>
      <vt:lpstr>Przepływ</vt:lpstr>
      <vt:lpstr>Przepływ</vt:lpstr>
      <vt:lpstr>Przepływ</vt:lpstr>
      <vt:lpstr>Obiekt powłoki pakowarki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przypadków użycia</vt:lpstr>
      <vt:lpstr>Specyfikacja aktorów</vt:lpstr>
      <vt:lpstr>Diagram (głównych) przypadków użycia</vt:lpstr>
      <vt:lpstr>Administrowanie systemem</vt:lpstr>
      <vt:lpstr>Scenariusz główny dla przypadku użycia  “Przetworzyć notatki odręczne do Markdown”</vt:lpstr>
      <vt:lpstr>Scenariusz alternatywny dla przypadku użycia  “Sterować zachowaniem AI przy pomocy tagów &lt;NOTE&gt;”</vt:lpstr>
      <vt:lpstr>Diagram aktywności dla przypadku użycia „Sterować  AI za pomocą tagów &lt;NOTE&gt;”</vt:lpstr>
      <vt:lpstr>PowerPoint Presentation</vt:lpstr>
      <vt:lpstr>Diagram realizacji przypadków użycia  </vt:lpstr>
      <vt:lpstr>Diagram realizacji przypadków użycia  </vt:lpstr>
      <vt:lpstr>Diagramy VOPC dla realizacji przypadków użycia Przekształcenie notatki</vt:lpstr>
      <vt:lpstr>Diagram VOPC dla realizacji przypadku użycia Przetworzyć notatki odręczne do Markdown</vt:lpstr>
      <vt:lpstr>Diagram VOPC dla realizacji przypadku użycia Sterować zachowaniem AI za pomocą tagów &lt;NOTE&gt;</vt:lpstr>
      <vt:lpstr>Diagram VOPC dla realizacji przypadku użycia Otrzymać potwierdzenie przetworzenia</vt:lpstr>
      <vt:lpstr>Diagram VOPC dla realizacji przypadku użycia Wysłać notatki</vt:lpstr>
      <vt:lpstr>Diagramy VOPC dla realizacji przypadków użycia Administacja systemem</vt:lpstr>
      <vt:lpstr>Diagram VOPC dla realizacji przypadku użycia Dodanie użytkownika do systemu</vt:lpstr>
      <vt:lpstr>Diagram VOPC dla realizacji przypadku użycia Skonfigurować lokalizację zapisu notatek</vt:lpstr>
      <vt:lpstr>Diagram VOPC dla realizacji przypadku użycia Skonfigurować token Discord</vt:lpstr>
      <vt:lpstr>Diagram VOPC dla realizacji przypadku użycia Wybór modelu AI</vt:lpstr>
      <vt:lpstr>Definicje klas analitycznych (opis)</vt:lpstr>
      <vt:lpstr>Definicje klas analitycznych (opis cd.)</vt:lpstr>
      <vt:lpstr>Klasy analityczne administracji systemem(diagram)</vt:lpstr>
      <vt:lpstr>Klasy analityczne obszaru przekształcenia notatki(diagram)</vt:lpstr>
      <vt:lpstr>Diagram sekwencji dla realizacji przypadku użycia Od zdjęć do notatki</vt:lpstr>
      <vt:lpstr>Diagramy komunikacji dla realizacji przypadków użycia Przekształcenie notatki</vt:lpstr>
      <vt:lpstr>Diagram komunikacji dla realizacji przypadku użycia Przetworzyć notatki odręczne do Markdown</vt:lpstr>
      <vt:lpstr>Diagram komunikacji dla realizacji przypadku użycia Sterować zachowaniem AI za pomocą tagów &lt;NOTE&gt;</vt:lpstr>
      <vt:lpstr>Diagram komunikacji dla realizacji przypadku użycia Otrzymać potwierdzenie przetworzenia</vt:lpstr>
      <vt:lpstr>Diagram komunikacji dla realizacji przypadku użycia Wysłać notatki</vt:lpstr>
      <vt:lpstr>Diagramy komunikacji dla realizacji przypadków użycia Administracji systemem</vt:lpstr>
      <vt:lpstr>Diagram komunikacji dla realizacji przypadku użycia Dodanie użytkownika do systemu</vt:lpstr>
      <vt:lpstr>Diagram komunikacji dla realizacji przypadku użycia Skonfigurować lokalizację zapisu notatek</vt:lpstr>
      <vt:lpstr>Diagram komunikacji dla realizacji przypadku użycia Skonfigurować ścieżkę do Obsidian Vault</vt:lpstr>
      <vt:lpstr>Diagram komunikacji dla realizacji przypadku użycia Skonfigurować token Discord</vt:lpstr>
      <vt:lpstr>Diagram komunikacji dla realizacji przypadku użycia Wybór modelu AI</vt:lpstr>
      <vt:lpstr>PowerPoint Presentation</vt:lpstr>
      <vt:lpstr>Diagram klas projektowych Interfejsy - Przekształcenie notatki</vt:lpstr>
      <vt:lpstr>Diagram klas projektowych Interfejsy - Administracja systemem</vt:lpstr>
      <vt:lpstr>Diagram klas projektowych Logika Aplikacji – Zarządzanie systemem</vt:lpstr>
      <vt:lpstr>Diagram klas projektowych Logika Aplikacji – Przekształcanie zdjęcia</vt:lpstr>
      <vt:lpstr>Diagram klas projektowych Dane Adminisrtacja Systemem</vt:lpstr>
      <vt:lpstr>Diagram klas projektowych Dane Przekształcanie notatki</vt:lpstr>
      <vt:lpstr>Opis klas projektowych</vt:lpstr>
      <vt:lpstr>Opis klas projektowych cd.</vt:lpstr>
      <vt:lpstr>Opis klas projektowych cd.</vt:lpstr>
      <vt:lpstr>Opis klas projektowych cd.</vt:lpstr>
      <vt:lpstr>Opis klas projektowych cd.</vt:lpstr>
      <vt:lpstr>Opis klas projektowych cd.</vt:lpstr>
      <vt:lpstr>Diagram stanów do obiektu klasy xxx</vt:lpstr>
      <vt:lpstr>Diagram pakietów: model warstw systemu, każda warstwa podzielona zgodnie z modelem obszarów systemu</vt:lpstr>
      <vt:lpstr>Diagram komponentów systemu</vt:lpstr>
      <vt:lpstr>Diagram wdrożenia systemu</vt:lpstr>
      <vt:lpstr>Kod systemu: jako wynik transformacji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subject/>
  <dc:creator>astasiak</dc:creator>
  <dc:description/>
  <cp:lastModifiedBy>Piotr Gugnowski</cp:lastModifiedBy>
  <cp:revision>236</cp:revision>
  <cp:lastPrinted>1601-01-01T00:00:00Z</cp:lastPrinted>
  <dcterms:created xsi:type="dcterms:W3CDTF">1601-01-01T00:00:00Z</dcterms:created>
  <dcterms:modified xsi:type="dcterms:W3CDTF">2026-04-06T23:55:10Z</dcterms:modified>
  <dc:language>pl-PL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(4:3)</vt:lpwstr>
  </property>
  <property fmtid="{D5CDD505-2E9C-101B-9397-08002B2CF9AE}" pid="4" name="Slides">
    <vt:i4>63</vt:i4>
  </property>
</Properties>
</file>